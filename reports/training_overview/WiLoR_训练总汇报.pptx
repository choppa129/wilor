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官方原始训练未在本机重跑；“官方训练”在此指发布权重及公开配方。来源：reports/wilor_three_model_review/evaluation_summary.json、四数据集快照。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来源：reports/wilor_training_reproduction_summary/selftrain_comparison_update.json；旧global step=100000不等于生成器更新数。未启用单pose token、弱透视或顶点loss。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来源：reports/wilor_three_model_review/evaluation_summary.json，各模型test。MPJPE=11.0908/15.0944/16.3604；PA=5.7099/7.9415/9.3948。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图片来源：reports/wilor_three_model_review/assets；三列模型的预选5张，选择记录在evaluation_summary.json。模型网格叠加图，不属于手套PPT。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来源：corrected版历史PPT第12–16页；evaluation/freihand_annotated_interventions_full。64样本梯度审计显示各loss均激活，不能简单认定beta loss缺失。历史WHIM建议已被当前四数据集方案替代。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"unique_training_records": {</a:t>
            </a:r>
          </a:p>
          <a:p>
            <a:r>
              <a:t>    "FREIHAND-TRAIN": 117216,</a:t>
            </a:r>
          </a:p>
          <a:p>
            <a:r>
              <a:t>    "INTERHAND26M-TRAIN": 1424632,</a:t>
            </a:r>
          </a:p>
          <a:p>
            <a:r>
              <a:t>    "MTC-TRAIN": 363947,</a:t>
            </a:r>
          </a:p>
          <a:p>
            <a:r>
              <a:t>    "RHD-TRAIN": 61705</a:t>
            </a:r>
          </a:p>
          <a:p>
            <a:r>
              <a:t>  },</a:t>
            </a:r>
          </a:p>
          <a:p>
            <a:r>
              <a:t>  "weights": {</a:t>
            </a:r>
          </a:p>
          <a:p>
            <a:r>
              <a:t>    "FREIHAND-TRAIN": 0.5,</a:t>
            </a:r>
          </a:p>
          <a:p>
            <a:r>
              <a:t>    "INTERHAND26M-TRAIN": 0.25,</a:t>
            </a:r>
          </a:p>
          <a:p>
            <a:r>
              <a:t>    "MTC-TRAIN": 0.125,</a:t>
            </a:r>
          </a:p>
          <a:p>
            <a:r>
              <a:t>    "RHD-TRAIN": 0.125</a:t>
            </a:r>
          </a:p>
          <a:p>
            <a:r>
              <a:t>  },</a:t>
            </a:r>
          </a:p>
          <a:p>
            <a:r>
              <a:t>  "samples_per_epoch": 233472,</a:t>
            </a:r>
          </a:p>
          <a:p>
            <a:r>
              <a:t>  "updates_per_epoch": 228,</a:t>
            </a:r>
          </a:p>
          <a:p>
            <a:r>
              <a:t>  "epochs": 50,</a:t>
            </a:r>
          </a:p>
          <a:p>
            <a:r>
              <a:t>  "validation": "FreiHAND grouped 10% holdout; unchanged seed 42",</a:t>
            </a:r>
          </a:p>
          <a:p>
            <a:r>
              <a:t>  "prior": "FreiHAND training split only",</a:t>
            </a:r>
          </a:p>
          <a:p>
            <a:r>
              <a:t>  "sampling": "Exact 4:2:1:1 dataset counts; replacement within each dataset",</a:t>
            </a:r>
          </a:p>
          <a:p>
            <a:r>
              <a:t>  "initialization": "ViTPose-H backbone plus official mean file; fresh WiLoR heads",</a:t>
            </a:r>
          </a:p>
          <a:p>
            <a:r>
              <a:t>  "precision": "FP32"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"source": "logs/train/runs/wilor_four_dataset_2gpu_50epoch_20261015T200534Z",</a:t>
            </a:r>
          </a:p>
          <a:p>
            <a:r>
              <a:t>  "snapshot": "2026-10-16T15:49:32.679330+08:00",</a:t>
            </a:r>
          </a:p>
          <a:p>
            <a:r>
              <a:t>  "latest": {</a:t>
            </a:r>
          </a:p>
          <a:p>
            <a:r>
              <a:t>    "val/supervised_loss_per_sample": 0.04321859031915665,</a:t>
            </a:r>
          </a:p>
          <a:p>
            <a:r>
              <a:t>    "val/mpjpe_mm": 16.66130828857422,</a:t>
            </a:r>
          </a:p>
          <a:p>
            <a:r>
              <a:t>    "val/pa_mpjpe_mm": 10.30764389038086,</a:t>
            </a:r>
          </a:p>
          <a:p>
            <a:r>
              <a:t>    "val/reprojection_px": 8.998564720153809,</a:t>
            </a:r>
          </a:p>
          <a:p>
            <a:r>
              <a:t>    "val/pve_mm": 15.965911865234375,</a:t>
            </a:r>
          </a:p>
          <a:p>
            <a:r>
              <a:t>    "val/pa_mpvpe_mm": 10.06818675994873,</a:t>
            </a:r>
          </a:p>
          <a:p>
            <a:r>
              <a:t>    "val/f_at_5mm": 0.5378419160842896,</a:t>
            </a:r>
          </a:p>
          <a:p>
            <a:r>
              <a:t>    "val/f_at_15mm": 0.9455360174179077</a:t>
            </a:r>
          </a:p>
          <a:p>
            <a:r>
              <a:t>  },</a:t>
            </a:r>
          </a:p>
          <a:p>
            <a:r>
              <a:t>  "completed_G_updates": 3876,</a:t>
            </a:r>
          </a:p>
          <a:p>
            <a:r>
              <a:t>  "note": "TensorBoard validation step is G updates minus one; checkpoint global step also counts discriminator."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来源：stopped_freihand_epoch50/metrics.json与四数据集TensorBoard快照。两者每轮更新量114 vs228；不能直接以epoch比较训练预算。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这是计划，不表示四数据集训练已完成。手套微调的独立汇报为reports/hand_display_comparison/WiLoR_手套微调_汇报.pptx。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详细历史证据见source_deck_content.json与既有reports/*.json；旧PPT中的已过期进度和手套基线不再混入本汇报。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WiLoR 训练总览：三个已评测模型，一项进行中的实验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整合官方基线、旧 self-train、调整后的 FreiHAND 训练及当前四数据集训练。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10312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88366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对象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737360"/>
            <a:ext cx="457200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828800"/>
            <a:ext cx="435254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训练/权重来源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438912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828800"/>
            <a:ext cx="416966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2103120" cy="8229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0008"/>
            <a:ext cx="1883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官方 WiLoR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240280"/>
            <a:ext cx="4572000" cy="8229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350008"/>
            <a:ext cx="4352544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直接使用官方发布权重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240280"/>
            <a:ext cx="4389120" cy="8229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2350008"/>
            <a:ext cx="4169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固定基线，已完成同口径评测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63240"/>
            <a:ext cx="210312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72968"/>
            <a:ext cx="1883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旧 self-train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063240"/>
            <a:ext cx="457200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3172968"/>
            <a:ext cx="4352544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FreiHAND-only；旧训练 last.ckpt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063240"/>
            <a:ext cx="438912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3172968"/>
            <a:ext cx="4169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已完成，作为历史自训练基线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86200"/>
            <a:ext cx="2103120" cy="8229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95928"/>
            <a:ext cx="1883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调整后 FreiHAND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886200"/>
            <a:ext cx="4572000" cy="8229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3995928"/>
            <a:ext cx="4352544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重新初始化；第50轮 stopped-last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886200"/>
            <a:ext cx="4389120" cy="8229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33488" y="3995928"/>
            <a:ext cx="4169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已完成，本次固定第50轮比较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09160"/>
            <a:ext cx="210312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818888"/>
            <a:ext cx="1883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四数据集训练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709160"/>
            <a:ext cx="457200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61488" y="4818888"/>
            <a:ext cx="4352544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FreiHAND + InterHand + MTC + RHD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709160"/>
            <a:ext cx="438912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3488" y="4818888"/>
            <a:ext cx="4169663" cy="6675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运行中；完成第17/50轮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7F86"/>
                </a:solidFill>
                <a:latin typeface="Microsoft YaHei"/>
              </a:defRPr>
            </a:pPr>
            <a:r>
              <a:t>核心结论：官方仍领先；旧自训练优于第50轮版本；四数据集尚无最终测试结论。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两版 FreiHAND：变化在训练行为，不能归因于单一参数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共同使用 ViTPose 初始化、ViT → MANO → RefineNet、透视投影；都更新 RefineNet。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37744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15798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434340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828800"/>
            <a:ext cx="412394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旧 self-train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737360"/>
            <a:ext cx="434340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828800"/>
            <a:ext cx="412394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调整后 FreiHAND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237744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0008"/>
            <a:ext cx="215798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数据划分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240280"/>
            <a:ext cx="434340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350008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按 tar 分片；流式采样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240280"/>
            <a:ext cx="434340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2350008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按拍摄ID分组，留出10%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2377440" cy="70408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054096"/>
            <a:ext cx="215798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GPU / 总 batch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944368"/>
            <a:ext cx="4343400" cy="70408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3054096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3 × 8 = 24；混合精度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2944368"/>
            <a:ext cx="4343400" cy="70408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9208" y="3054096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2 × 512 = 1024；FP32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48456"/>
            <a:ext cx="237744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58184"/>
            <a:ext cx="215798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生成器更新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648456"/>
            <a:ext cx="434340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3758184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49,948 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3648456"/>
            <a:ext cx="434340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8" y="3758184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5,700 次（50 × 114）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352544"/>
            <a:ext cx="2377440" cy="70408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462272"/>
            <a:ext cx="215798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监督项尺度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352544"/>
            <a:ext cx="4343400" cy="70408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4462272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每卡8个样本直接求和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4352544"/>
            <a:ext cx="4343400" cy="70408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9208" y="4462272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每卡512求和 ×128/512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56632"/>
            <a:ext cx="237744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166360"/>
            <a:ext cx="215798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验证方式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5056632"/>
            <a:ext cx="434340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5808" y="5166360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每1000 batch，仅1个验证batch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5056632"/>
            <a:ext cx="4343400" cy="7040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9208" y="5166360"/>
            <a:ext cx="412394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每轮完整13,024个验证样本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971032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478"/>
                </a:solidFill>
                <a:latin typeface="Microsoft YaHei"/>
              </a:defRPr>
            </a:pPr>
            <a:r>
              <a:t>两者均使用 AdamW，LR 1e-5、WD 1e-4；更新预算、划分和 loss 相对尺度同时改变。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同一官方测试集：官方模型最佳，旧自训练其次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FreiHAND 官方评测 3,960 张；相同裁剪与 FP32，无增强；下表都是固定 checkpoint 的测试结果。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10896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88950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737360"/>
            <a:ext cx="192024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1828800"/>
            <a:ext cx="170078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MPJPE ↓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737360"/>
            <a:ext cx="210312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1828800"/>
            <a:ext cx="188366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PA-MPJPE ↓ 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59" y="1737360"/>
            <a:ext cx="210312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7" y="1828800"/>
            <a:ext cx="188366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PA-MPVPE ↓ 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1737360"/>
            <a:ext cx="182880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93807" y="1828800"/>
            <a:ext cx="160934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F@5mm 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40280"/>
            <a:ext cx="310896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50008"/>
            <a:ext cx="288950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官方 WiLoR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40280"/>
            <a:ext cx="192024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7328" y="2350008"/>
            <a:ext cx="170078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11.09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240280"/>
            <a:ext cx="210312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2350008"/>
            <a:ext cx="1883663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5.71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59" y="2240280"/>
            <a:ext cx="210312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7" y="2350008"/>
            <a:ext cx="1883663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5.27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240280"/>
            <a:ext cx="182880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7" y="2350008"/>
            <a:ext cx="160934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81.4%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08960"/>
            <a:ext cx="310896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218688"/>
            <a:ext cx="288950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旧 self-train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108960"/>
            <a:ext cx="192024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3218688"/>
            <a:ext cx="170078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15.09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108960"/>
            <a:ext cx="210312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87568" y="3218688"/>
            <a:ext cx="1883663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7.94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59" y="3108960"/>
            <a:ext cx="210312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7" y="3218688"/>
            <a:ext cx="1883663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7.50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3108960"/>
            <a:ext cx="18288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7" y="3218688"/>
            <a:ext cx="160934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67.3%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77639"/>
            <a:ext cx="310896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087368"/>
            <a:ext cx="288950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调整后 FreiHAND 第50轮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3977639"/>
            <a:ext cx="192024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4087368"/>
            <a:ext cx="170078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16.36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977639"/>
            <a:ext cx="210312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87568" y="4087368"/>
            <a:ext cx="1883663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9.39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59" y="3977639"/>
            <a:ext cx="210312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0687" y="4087368"/>
            <a:ext cx="1883663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8.95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3977639"/>
            <a:ext cx="182880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93807" y="4087368"/>
            <a:ext cx="1609344" cy="71323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83F"/>
                </a:solidFill>
                <a:latin typeface="Microsoft YaHei"/>
              </a:defRPr>
            </a:pPr>
            <a:r>
              <a:t>59.1%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07F86"/>
                </a:solidFill>
                <a:latin typeface="Microsoft YaHei"/>
              </a:defRPr>
            </a:pPr>
            <a:r>
              <a:t>调整后的第50轮模型没有超过旧模型；不能仅凭“配方更对齐”就认定效果更好。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t>MPJPE仅对齐手腕平移；PA指标额外对齐旋转和尺度。这里不是论文数字的精确复现声明。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同一组图像：对照三个已完成模型的具体错误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固定的5个官方评测样本；全部模型使用相同图像。示例用于观察，不替代3,960张总体指标。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21991"/>
            <a:ext cx="105156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7F86"/>
                </a:solidFill>
                <a:latin typeface="Microsoft YaHei"/>
              </a:defRPr>
            </a:pPr>
            <a:r>
              <a:t>官方</a:t>
            </a:r>
          </a:p>
        </p:txBody>
      </p:sp>
      <p:pic>
        <p:nvPicPr>
          <p:cNvPr id="8" name="Picture 7" descr="test_000353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37360"/>
            <a:ext cx="14173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426464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图像 000353</a:t>
            </a:r>
          </a:p>
        </p:txBody>
      </p:sp>
      <p:pic>
        <p:nvPicPr>
          <p:cNvPr id="10" name="Picture 9" descr="test_001714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737360"/>
            <a:ext cx="1417320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1880" y="1426464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图像 001714</a:t>
            </a:r>
          </a:p>
        </p:txBody>
      </p:sp>
      <p:pic>
        <p:nvPicPr>
          <p:cNvPr id="12" name="Picture 11" descr="test_001737_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737360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1426464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图像 001737</a:t>
            </a:r>
          </a:p>
        </p:txBody>
      </p:sp>
      <p:pic>
        <p:nvPicPr>
          <p:cNvPr id="14" name="Picture 13" descr="test_002590_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1737360"/>
            <a:ext cx="141732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1426464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图像 002590</a:t>
            </a:r>
          </a:p>
        </p:txBody>
      </p:sp>
      <p:pic>
        <p:nvPicPr>
          <p:cNvPr id="16" name="Picture 15" descr="test_003062_offic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1737360"/>
            <a:ext cx="1417320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84080" y="1426464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图像 003062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39896"/>
            <a:ext cx="105156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7F86"/>
                </a:solidFill>
                <a:latin typeface="Microsoft YaHei"/>
              </a:defRPr>
            </a:pPr>
            <a:r>
              <a:t>旧自训练</a:t>
            </a:r>
          </a:p>
        </p:txBody>
      </p:sp>
      <p:pic>
        <p:nvPicPr>
          <p:cNvPr id="19" name="Picture 18" descr="test_000353_selft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3255263"/>
            <a:ext cx="1417320" cy="1417320"/>
          </a:xfrm>
          <a:prstGeom prst="rect">
            <a:avLst/>
          </a:prstGeom>
        </p:spPr>
      </p:pic>
      <p:pic>
        <p:nvPicPr>
          <p:cNvPr id="20" name="Picture 19" descr="test_001714_selft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3255263"/>
            <a:ext cx="1417320" cy="1417320"/>
          </a:xfrm>
          <a:prstGeom prst="rect">
            <a:avLst/>
          </a:prstGeom>
        </p:spPr>
      </p:pic>
      <p:pic>
        <p:nvPicPr>
          <p:cNvPr id="21" name="Picture 20" descr="test_001737_selft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0" y="3255263"/>
            <a:ext cx="1417320" cy="1417320"/>
          </a:xfrm>
          <a:prstGeom prst="rect">
            <a:avLst/>
          </a:prstGeom>
        </p:spPr>
      </p:pic>
      <p:pic>
        <p:nvPicPr>
          <p:cNvPr id="22" name="Picture 21" descr="test_002590_selft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6679" y="3255263"/>
            <a:ext cx="1417320" cy="1417320"/>
          </a:xfrm>
          <a:prstGeom prst="rect">
            <a:avLst/>
          </a:prstGeom>
        </p:spPr>
      </p:pic>
      <p:pic>
        <p:nvPicPr>
          <p:cNvPr id="23" name="Picture 22" descr="test_003062_selftra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0" y="3255263"/>
            <a:ext cx="1417320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" y="5257800"/>
            <a:ext cx="105156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7F86"/>
                </a:solidFill>
                <a:latin typeface="Microsoft YaHei"/>
              </a:defRPr>
            </a:pPr>
            <a:r>
              <a:t>FreiHAND</a:t>
            </a:r>
          </a:p>
          <a:p>
            <a:pPr>
              <a:spcAft>
                <a:spcPts val="500"/>
              </a:spcAft>
              <a:defRPr sz="1600" b="1">
                <a:solidFill>
                  <a:srgbClr val="007F86"/>
                </a:solidFill>
                <a:latin typeface="Microsoft YaHei"/>
              </a:defRPr>
            </a:pPr>
            <a:r>
              <a:t>第50轮</a:t>
            </a:r>
          </a:p>
        </p:txBody>
      </p:sp>
      <p:pic>
        <p:nvPicPr>
          <p:cNvPr id="25" name="Picture 24" descr="test_000353_self_freihan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4480" y="4773168"/>
            <a:ext cx="1417320" cy="1417320"/>
          </a:xfrm>
          <a:prstGeom prst="rect">
            <a:avLst/>
          </a:prstGeom>
        </p:spPr>
      </p:pic>
      <p:pic>
        <p:nvPicPr>
          <p:cNvPr id="26" name="Picture 25" descr="test_001714_self_freihan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1880" y="4773168"/>
            <a:ext cx="1417320" cy="1417320"/>
          </a:xfrm>
          <a:prstGeom prst="rect">
            <a:avLst/>
          </a:prstGeom>
        </p:spPr>
      </p:pic>
      <p:pic>
        <p:nvPicPr>
          <p:cNvPr id="27" name="Picture 26" descr="test_001737_self_freihan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9280" y="4773168"/>
            <a:ext cx="1417320" cy="1417320"/>
          </a:xfrm>
          <a:prstGeom prst="rect">
            <a:avLst/>
          </a:prstGeom>
        </p:spPr>
      </p:pic>
      <p:pic>
        <p:nvPicPr>
          <p:cNvPr id="28" name="Picture 27" descr="test_002590_self_freihan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6679" y="4773168"/>
            <a:ext cx="1417320" cy="1417320"/>
          </a:xfrm>
          <a:prstGeom prst="rect">
            <a:avLst/>
          </a:prstGeom>
        </p:spPr>
      </p:pic>
      <p:pic>
        <p:nvPicPr>
          <p:cNvPr id="29" name="Picture 28" descr="test_003062_self_freihan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4080" y="4773168"/>
            <a:ext cx="14173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历史诊断：不能把所有差距都解释成“手太小”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保留已纠正的结论，移除旧的猜测性结论与已被替代的下一步建议。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007F86"/>
                </a:solidFill>
                <a:latin typeface="Microsoft YaHei"/>
              </a:defRPr>
            </a:pPr>
            <a:r>
              <a:t>域内并没有强烈的整体缩小偏差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10,240个标注样本中，旧模型投影跨度中位数约为参考的98.34%。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7792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007F86"/>
                </a:solidFill>
                <a:latin typeface="Microsoft YaHei"/>
              </a:defRPr>
            </a:pPr>
            <a:r>
              <a:t>姿态，尤其手指姿态，是重要误差来源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10972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替换为参考手指姿态后，PA-MPJPE的配对中位数下降约46.75%。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78224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007F86"/>
                </a:solidFill>
                <a:latin typeface="Microsoft YaHei"/>
              </a:defRPr>
            </a:pPr>
            <a:r>
              <a:t>相机与几何共同适配，不能直接换相机修好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26864"/>
            <a:ext cx="10972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给旧模型换官方相机，重投影误差的配对中位数反而上升约5.65%。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26478"/>
                </a:solidFill>
                <a:latin typeface="Microsoft YaHei"/>
              </a:defRPr>
            </a:pPr>
            <a:r>
              <a:t>因此优先扩大数据覆盖，并联合观察姿态与投影误差；这些诊断不是新训练效果。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当前实验：扩大到四个数据集，保持验证集一致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从 ViTPose-H backbone 与新 WiLoR heads 开始；不是续训旧 FreiHAND checkpoint，也不是微调官方发布权重。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749039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352958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37360"/>
            <a:ext cx="3749039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7" y="1828800"/>
            <a:ext cx="352958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可用训练记录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737360"/>
            <a:ext cx="356616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7" y="1828800"/>
            <a:ext cx="334670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采样权重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3749039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00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FreiHAND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2240280"/>
            <a:ext cx="3749039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23500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117,216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240280"/>
            <a:ext cx="3566160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7" y="2350008"/>
            <a:ext cx="3346704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3749039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0358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InterHand2.6M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2926080"/>
            <a:ext cx="3749039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30358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1,424,632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2926080"/>
            <a:ext cx="3566160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7" y="3035808"/>
            <a:ext cx="3346704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11880"/>
            <a:ext cx="3749039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216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MTC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3611880"/>
            <a:ext cx="3749039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7" y="37216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363,947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3611880"/>
            <a:ext cx="3566160" cy="6858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7" y="3721608"/>
            <a:ext cx="3346704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12.5%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97680"/>
            <a:ext cx="3749039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4074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RHD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4297680"/>
            <a:ext cx="3749039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7" y="4407408"/>
            <a:ext cx="3529583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61,705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19" y="4297680"/>
            <a:ext cx="3566160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7" y="4407408"/>
            <a:ext cx="3346704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4283F"/>
                </a:solidFill>
                <a:latin typeface="Microsoft YaHei"/>
              </a:defRPr>
            </a:pPr>
            <a:r>
              <a:t>12.5%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07F86"/>
                </a:solidFill>
                <a:latin typeface="Microsoft YaHei"/>
              </a:defRPr>
            </a:pPr>
            <a:r>
              <a:t>每轮 233,472 次采样、228 次生成器更新；计划 50 轮，总计 11,400 次更新。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GPU 6、7；每卡 batch 512，总 batch 1024；FP32。按4:2:1:1有放回抽样，缺失标签不计为零。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四数据集正在训练：已完成第 17 / 50 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快照时间：2026-10-16 15:49:32（台北）；该页为内部验证，不是官方测试集最终成绩。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200400" cy="15087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75104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007F86"/>
                </a:solidFill>
                <a:latin typeface="Microsoft YaHei"/>
              </a:defRPr>
            </a:pPr>
            <a:r>
              <a:t>MPJPE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42032"/>
            <a:ext cx="28346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83F"/>
                </a:solidFill>
                <a:latin typeface="Microsoft YaHei"/>
              </a:defRPr>
            </a:pPr>
            <a:r>
              <a:t>16.66 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783080"/>
            <a:ext cx="3200400" cy="15087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75104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007F86"/>
                </a:solidFill>
                <a:latin typeface="Microsoft YaHei"/>
              </a:defRPr>
            </a:pPr>
            <a:r>
              <a:t>PA-MPJPE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42032"/>
            <a:ext cx="28346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83F"/>
                </a:solidFill>
                <a:latin typeface="Microsoft YaHei"/>
              </a:defRPr>
            </a:pPr>
            <a:r>
              <a:t>10.31 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783080"/>
            <a:ext cx="3200400" cy="15087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975104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007F86"/>
                </a:solidFill>
                <a:latin typeface="Microsoft YaHei"/>
              </a:defRPr>
            </a:pPr>
            <a:r>
              <a:t>二维重投影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542032"/>
            <a:ext cx="28346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83F"/>
                </a:solidFill>
                <a:latin typeface="Microsoft YaHei"/>
              </a:defRPr>
            </a:pPr>
            <a:r>
              <a:t>9.00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10058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验证 MPJPE 随已完成轮数的变化（mm）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3879479"/>
            <a:ext cx="622935" cy="633501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37335" y="4512980"/>
            <a:ext cx="622935" cy="24831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60270" y="4761290"/>
            <a:ext cx="622935" cy="223091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83205" y="4984381"/>
            <a:ext cx="622935" cy="98921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06140" y="5083302"/>
            <a:ext cx="622935" cy="59827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29075" y="5143129"/>
            <a:ext cx="622935" cy="47247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52010" y="5190376"/>
            <a:ext cx="622935" cy="46319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74945" y="5236695"/>
            <a:ext cx="622935" cy="28456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97880" y="5265151"/>
            <a:ext cx="622935" cy="28722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20815" y="5293873"/>
            <a:ext cx="622935" cy="20801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43750" y="5314674"/>
            <a:ext cx="622935" cy="2682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66685" y="5341494"/>
            <a:ext cx="622935" cy="18956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9620" y="5360450"/>
            <a:ext cx="622935" cy="10171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12555" y="5370621"/>
            <a:ext cx="622935" cy="38877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35490" y="5409498"/>
            <a:ext cx="622935" cy="20944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8425" y="5430442"/>
            <a:ext cx="622935" cy="22327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5650992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第1轮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650992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478"/>
                </a:solidFill>
                <a:latin typeface="Microsoft YaHei"/>
              </a:defRPr>
            </a:pPr>
            <a:r>
              <a:t>第17轮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t>验证集仍为 FreiHAND 13,024 个内部留出样本；尚不能代表其他三个数据集的泛化能力。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现在能说什么：多数据集收益尚待最终确认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以下两项使用同一 FreiHAND 内部留出集；训练进度和更新预算不同，不是等预算消融。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84048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362102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模型 / 进度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237744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28800"/>
            <a:ext cx="215798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MPJPE mm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737360"/>
            <a:ext cx="256032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828800"/>
            <a:ext cx="234086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PA-MPJPE mm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737360"/>
            <a:ext cx="228600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6607" y="1828800"/>
            <a:ext cx="2066543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二维误差 px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3840480" cy="9144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350008"/>
            <a:ext cx="3621024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FreiHAND 第50轮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240280"/>
            <a:ext cx="2377440" cy="9144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2350008"/>
            <a:ext cx="2157984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12.81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240280"/>
            <a:ext cx="2560320" cy="9144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2350008"/>
            <a:ext cx="2340863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8.09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240280"/>
            <a:ext cx="2286000" cy="91440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7" y="2350008"/>
            <a:ext cx="2066543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7.80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54680"/>
            <a:ext cx="3840480" cy="9144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64408"/>
            <a:ext cx="3621024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四数据集 第17轮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154680"/>
            <a:ext cx="2377440" cy="9144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264408"/>
            <a:ext cx="2157984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16.66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154680"/>
            <a:ext cx="2560320" cy="9144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3264408"/>
            <a:ext cx="2340863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10.31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3154680"/>
            <a:ext cx="2286000" cy="9144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7" y="3264408"/>
            <a:ext cx="2066543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83F"/>
                </a:solidFill>
                <a:latin typeface="Microsoft YaHei"/>
              </a:defRPr>
            </a:pPr>
            <a:r>
              <a:t>9.00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007F86"/>
                </a:solidFill>
                <a:latin typeface="Microsoft YaHei"/>
              </a:defRPr>
            </a:pPr>
            <a:r>
              <a:t>当前四数据集模型在这一验证集上还未超过 FreiHAND 第50轮模型。</a:t>
            </a:r>
          </a:p>
          <a:p>
            <a:pPr>
              <a:spcAft>
                <a:spcPts val="500"/>
              </a:spcAft>
              <a:defRPr sz="2300" b="1">
                <a:solidFill>
                  <a:srgbClr val="007F86"/>
                </a:solidFill>
                <a:latin typeface="Microsoft YaHei"/>
              </a:defRPr>
            </a:pPr>
            <a:r>
              <a:t>是否改善域外手势和物体交互，需要后续独立评测，不能提前下结论。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后续计划：完成当前实验，再做同口径比较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暂不因中途某一轮的指标波动改变采样比例或 loss，先保持实验可解释。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74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继续当前训练与完整验证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526478"/>
                </a:solidFill>
                <a:latin typeface="Microsoft YaHei"/>
              </a:defRPr>
            </a:pPr>
            <a:r>
              <a:t>保存验证最佳权重；本次整理不重启、不暂停训练。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39"/>
            <a:ext cx="274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统一评测四个模型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84448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526478"/>
                </a:solidFill>
                <a:latin typeface="Microsoft YaHei"/>
              </a:defRPr>
            </a:pPr>
            <a:r>
              <a:t>在同一正式评测集报告姿态、网格和投影指标；用固定示例查看具体失败。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274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9768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再决定修改数据还是训练配方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64608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526478"/>
                </a:solidFill>
                <a:latin typeface="Microsoft YaHei"/>
              </a:defRPr>
            </a:pPr>
            <a:r>
              <a:t>同时比较更新预算、域外效果和有效标注；避免把多项变化归因于一个因素。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附录：保留复现边界与版本来源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t>把方法说明集中到附录，避免与核心训练结果混在一起。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789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WiLoR 训练总汇报 · 快照 2026-10-16 15:49:32（台北）· 手套微调另册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2647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01168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79222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737360"/>
            <a:ext cx="9052560" cy="50292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828800"/>
            <a:ext cx="8833104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已核对的事实 / 限制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2011680" cy="74980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50008"/>
            <a:ext cx="179222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官方配方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240280"/>
            <a:ext cx="9052560" cy="74980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2350008"/>
            <a:ext cx="883310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公开配置含14个数据集；实际发布权重的完整训练日志与选模细节未公开确认。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90088"/>
            <a:ext cx="2011680" cy="74980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99816"/>
            <a:ext cx="179222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网络主体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990088"/>
            <a:ext cx="9052560" cy="74980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3099816"/>
            <a:ext cx="883310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16 pose + 1 shape + 1 camera token；ViT → 初始MANO → RefineNet；透视投影。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9896"/>
            <a:ext cx="2011680" cy="74980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179222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本机补充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739896"/>
            <a:ext cx="9052560" cy="74980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849624"/>
            <a:ext cx="883310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有限训练轮、分组留出、完整验证、最佳权重保存；不能将其称为完全复现原作者训练。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89704"/>
            <a:ext cx="2011680" cy="74980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599432"/>
            <a:ext cx="179222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指标边界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4489704"/>
            <a:ext cx="9052560" cy="749808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4599432"/>
            <a:ext cx="883310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正式测试集与内部留出集分开；PA指标会对齐旋转、尺度与平移。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39512"/>
            <a:ext cx="2011680" cy="74980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349240"/>
            <a:ext cx="179222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记录保存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5239512"/>
            <a:ext cx="9052560" cy="74980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5349240"/>
            <a:ext cx="8833104" cy="5943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83F"/>
                </a:solidFill>
                <a:latin typeface="Microsoft YaHei"/>
              </a:defRPr>
            </a:pPr>
            <a:r>
              <a:t>旧PPT文字、表格、备注已汇入源记录；原始指标、训练日志、数据和checkpoint均保留。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