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来源与核验范围</a:t>
            </a:r>
          </a:p>
          <a:p>
            <a:r>
              <a:t>论文: https://arxiv.org/html/2409.12259v2</a:t>
            </a:r>
          </a:p>
          <a:p>
            <a:r>
              <a:t>本机版本: https://github.com/choppa129/WiLoR/commit/221f778</a:t>
            </a:r>
          </a:p>
          <a:p/>
          <a:p>
            <a:r>
              <a:t>基线 commit 221f778；之后增加了本机最佳模型保存与早停，尚未提交。</a:t>
            </a:r>
          </a:p>
          <a:p>
            <a:r>
              <a:t>本机根目录：/data/xjiang390/projects/WiLoR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来源与核验范围</a:t>
            </a:r>
          </a:p>
          <a:p>
            <a:r>
              <a:t>论文: https://arxiv.org/html/2409.12259v2</a:t>
            </a:r>
          </a:p>
          <a:p>
            <a:r>
              <a:t>官方配置: https://github.com/rolpotamias/WiLoR/blob/fcb911312a38fa8badd30d9656a167485d61b8f9/pretrained_models/model_config.yaml</a:t>
            </a:r>
          </a:p>
          <a:p/>
          <a:p>
            <a:r>
              <a:t>官方代码固定到 fcb9113；论文为 arXiv v2；HaMeR 来源单独标注。</a:t>
            </a:r>
          </a:p>
          <a:p>
            <a:r>
              <a:t>本机根目录：/data/xjiang390/projects/WiLoR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来源与核验范围</a:t>
            </a:r>
          </a:p>
          <a:p>
            <a:r>
              <a:t>模型代码: https://github.com/rolpotamias/WiLoR/blob/fcb911312a38fa8badd30d9656a167485d61b8f9/wilor/models/wilor.py</a:t>
            </a:r>
          </a:p>
          <a:p>
            <a:r>
              <a:t>RefineNet: https://github.com/rolpotamias/WiLoR/blob/fcb911312a38fa8badd30d9656a167485d61b8f9/wilor/models/heads/refinement_net.py</a:t>
            </a:r>
          </a:p>
          <a:p/>
          <a:p>
            <a:r>
              <a:t>本机代码：wilor/datasets/finite_freihand.py；wilor/models/wilor.py；train.py。</a:t>
            </a:r>
          </a:p>
          <a:p>
            <a:r>
              <a:t>本机根目录：/data/xjiang390/projects/WiLoR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来源与核验范围</a:t>
            </a:r>
          </a:p>
          <a:p>
            <a:r>
              <a:t>论文: https://arxiv.org/html/2409.12259v2</a:t>
            </a:r>
          </a:p>
          <a:p>
            <a:r>
              <a:t>ViT代码: https://github.com/rolpotamias/WiLoR/blob/fcb911312a38fa8badd30d9656a167485d61b8f9/wilor/models/backbones/vit.py</a:t>
            </a:r>
          </a:p>
          <a:p/>
          <a:p/>
          <a:p>
            <a:r>
              <a:t>本机根目录：/data/xjiang390/projects/WiLoR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来源与核验范围</a:t>
            </a:r>
          </a:p>
          <a:p>
            <a:r>
              <a:t>论文: https://arxiv.org/html/2409.12259v2</a:t>
            </a:r>
          </a:p>
          <a:p>
            <a:r>
              <a:t>模型代码: https://github.com/rolpotamias/WiLoR/blob/fcb911312a38fa8badd30d9656a167485d61b8f9/wilor/models/wilor.py</a:t>
            </a:r>
          </a:p>
          <a:p>
            <a:r>
              <a:t>RefineNet: https://github.com/rolpotamias/WiLoR/blob/fcb911312a38fa8badd30d9656a167485d61b8f9/wilor/models/heads/refinement_net.py</a:t>
            </a:r>
          </a:p>
          <a:p>
            <a:r>
              <a:t>损失代码: https://github.com/rolpotamias/WiLoR/blob/fcb911312a38fa8badd30d9656a167485d61b8f9/wilor/models/losses.py</a:t>
            </a:r>
          </a:p>
          <a:p/>
          <a:p/>
          <a:p>
            <a:r>
              <a:t>本机根目录：/data/xjiang390/projects/WiLoR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来源与核验范围</a:t>
            </a:r>
          </a:p>
          <a:p>
            <a:r>
              <a:t>论文: https://arxiv.org/html/2409.12259v2</a:t>
            </a:r>
          </a:p>
          <a:p>
            <a:r>
              <a:t>模型代码: https://github.com/rolpotamias/WiLoR/blob/fcb911312a38fa8badd30d9656a167485d61b8f9/wilor/models/wilor.py</a:t>
            </a:r>
          </a:p>
          <a:p>
            <a:r>
              <a:t>官方配置: https://github.com/rolpotamias/WiLoR/blob/fcb911312a38fa8badd30d9656a167485d61b8f9/pretrained_models/model_config.yaml</a:t>
            </a:r>
          </a:p>
          <a:p>
            <a:r>
              <a:t>作者batch回复: https://github.com/rolpotamias/WiLoR/issues/19#issuecomment-2888436633</a:t>
            </a:r>
          </a:p>
          <a:p/>
          <a:p>
            <a:r>
              <a:t>RefineNet遗漏是公开实现问题，不能据此认定作者原始训练没有更新它。</a:t>
            </a:r>
          </a:p>
          <a:p>
            <a:r>
              <a:t>本机根目录：/data/xjiang390/projects/WiLoR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来源与核验范围</a:t>
            </a:r>
          </a:p>
          <a:p>
            <a:r>
              <a:t>ViT代码: https://github.com/rolpotamias/WiLoR/blob/fcb911312a38fa8badd30d9656a167485d61b8f9/wilor/models/backbones/vit.py</a:t>
            </a:r>
          </a:p>
          <a:p>
            <a:r>
              <a:t>HaMeR相机追溯: https://github.com/geopavlakos/hamer/issues/41#issuecomment-2078067937</a:t>
            </a:r>
          </a:p>
          <a:p/>
          <a:p>
            <a:r>
              <a:t>本机证据：reports/camera_initialization_study/hamer_upstream_trace.json。</a:t>
            </a:r>
          </a:p>
          <a:p>
            <a:r>
              <a:t>本机根目录：/data/xjiang390/projects/WiLoR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来源与核验范围</a:t>
            </a:r>
          </a:p>
          <a:p>
            <a:r>
              <a:t>模型代码: https://github.com/rolpotamias/WiLoR/blob/fcb911312a38fa8badd30d9656a167485d61b8f9/wilor/models/wilor.py</a:t>
            </a:r>
          </a:p>
          <a:p>
            <a:r>
              <a:t>RefineNet: https://github.com/rolpotamias/WiLoR/blob/fcb911312a38fa8badd30d9656a167485d61b8f9/wilor/models/heads/refinement_net.py</a:t>
            </a:r>
          </a:p>
          <a:p>
            <a:r>
              <a:t>官方配置: https://github.com/rolpotamias/WiLoR/blob/fcb911312a38fa8badd30d9656a167485d61b8f9/pretrained_models/model_config.yaml</a:t>
            </a:r>
          </a:p>
          <a:p/>
          <a:p/>
          <a:p>
            <a:r>
              <a:t>本机根目录：/data/xjiang390/projects/WiLoR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来源与核验范围</a:t>
            </a:r>
          </a:p>
          <a:p>
            <a:r>
              <a:t>ViT代码: https://github.com/rolpotamias/WiLoR/blob/fcb911312a38fa8badd30d9656a167485d61b8f9/wilor/models/backbones/vit.py</a:t>
            </a:r>
          </a:p>
          <a:p>
            <a:r>
              <a:t>RefineNet: https://github.com/rolpotamias/WiLoR/blob/fcb911312a38fa8badd30d9656a167485d61b8f9/wilor/models/heads/refinement_net.py</a:t>
            </a:r>
          </a:p>
          <a:p>
            <a:r>
              <a:t>官方配置: https://github.com/rolpotamias/WiLoR/blob/fcb911312a38fa8badd30d9656a167485d61b8f9/pretrained_models/model_config.yaml</a:t>
            </a:r>
          </a:p>
          <a:p/>
          <a:p/>
          <a:p>
            <a:r>
              <a:t>本机根目录：/data/xjiang390/projects/WiLoR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来源与核验范围</a:t>
            </a:r>
          </a:p>
          <a:p>
            <a:r>
              <a:t>RefineNet: https://github.com/rolpotamias/WiLoR/blob/fcb911312a38fa8badd30d9656a167485d61b8f9/wilor/models/heads/refinement_net.py</a:t>
            </a:r>
          </a:p>
          <a:p>
            <a:r>
              <a:t>损失代码: https://github.com/rolpotamias/WiLoR/blob/fcb911312a38fa8badd30d9656a167485d61b8f9/wilor/models/losses.py</a:t>
            </a:r>
          </a:p>
          <a:p>
            <a:r>
              <a:t>官方配置: https://github.com/rolpotamias/WiLoR/blob/fcb911312a38fa8badd30d9656a167485d61b8f9/pretrained_models/model_config.yaml</a:t>
            </a:r>
          </a:p>
          <a:p/>
          <a:p/>
          <a:p>
            <a:r>
              <a:t>本机根目录：/data/xjiang390/projects/WiLoR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来源与核验范围</a:t>
            </a:r>
          </a:p>
          <a:p>
            <a:r>
              <a:t>官方配置: https://github.com/rolpotamias/WiLoR/blob/fcb911312a38fa8badd30d9656a167485d61b8f9/pretrained_models/model_config.yaml</a:t>
            </a:r>
          </a:p>
          <a:p/>
          <a:p>
            <a:r>
              <a:t>14个数据集合计100%；当前实验仅FreiHAND，抽样比例100%。</a:t>
            </a:r>
          </a:p>
          <a:p>
            <a:r>
              <a:t>本机根目录：/data/xjiang390/projects/WiLoR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来源与核验范围</a:t>
            </a:r>
          </a:p>
          <a:p>
            <a:r>
              <a:t>HaMeR下载: https://github.com/geopavlakos/hamer/blob/main/fetch_training_data.sh</a:t>
            </a:r>
          </a:p>
          <a:p/>
          <a:p>
            <a:r>
              <a:t>源文件制作与训练时在线裁剪/随机增强是两步；预处理包不意味着在线不再处理。</a:t>
            </a:r>
          </a:p>
          <a:p>
            <a:r>
              <a:t>本机根目录：/data/xjiang390/projects/WiLoR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来源与核验范围</a:t>
            </a:r>
          </a:p>
          <a:p>
            <a:r>
              <a:t>官方配置: https://github.com/rolpotamias/WiLoR/blob/fcb911312a38fa8badd30d9656a167485d61b8f9/pretrained_models/model_config.yaml</a:t>
            </a:r>
          </a:p>
          <a:p>
            <a:r>
              <a:t>HaMeR下载: https://github.com/geopavlakos/hamer/blob/main/fetch_training_data.sh</a:t>
            </a:r>
          </a:p>
          <a:p/>
          <a:p>
            <a:r>
              <a:t>代码：wilor/datasets/finite_freihand.py；image_dataset.py；datasets/__init__.py。</a:t>
            </a:r>
          </a:p>
          <a:p>
            <a:r>
              <a:t>本机根目录：/data/xjiang390/projects/WiLoR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来源与核验范围</a:t>
            </a:r>
          </a:p>
          <a:p>
            <a:r>
              <a:t>作者batch回复: https://github.com/rolpotamias/WiLoR/issues/19#issuecomment-2888436633</a:t>
            </a:r>
          </a:p>
          <a:p>
            <a:r>
              <a:t>官方配置: https://github.com/rolpotamias/WiLoR/blob/fcb911312a38fa8badd30d9656a167485d61b8f9/pretrained_models/model_config.yaml</a:t>
            </a:r>
          </a:p>
          <a:p>
            <a:r>
              <a:t>模型代码: https://github.com/rolpotamias/WiLoR/blob/fcb911312a38fa8badd30d9656a167485d61b8f9/wilor/models/wilor.py</a:t>
            </a:r>
          </a:p>
          <a:p/>
          <a:p>
            <a:r>
              <a:t>Adam把传统L2项耦合进梯度；AdamW解耦权重衰减，相同weight_decay不保证等效。</a:t>
            </a:r>
          </a:p>
          <a:p>
            <a:r>
              <a:t>本机根目录：/data/xjiang390/projects/WiLoR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来源与核验范围</a:t>
            </a:r>
          </a:p>
          <a:p>
            <a:r>
              <a:t>官方配置: https://github.com/rolpotamias/WiLoR/blob/fcb911312a38fa8badd30d9656a167485d61b8f9/pretrained_models/model_config.yaml</a:t>
            </a:r>
          </a:p>
          <a:p/>
          <a:p>
            <a:r>
              <a:t>实测完整第2、3、4轮各约20分12秒；跑满约14天，不等于收敛预测。</a:t>
            </a:r>
          </a:p>
          <a:p>
            <a:r>
              <a:t>本机根目录：/data/xjiang390/projects/WiLoR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来源与核验范围</a:t>
            </a:r>
          </a:p>
          <a:p>
            <a:r>
              <a:t>本机版本: https://github.com/choppa129/WiLoR/commit/221f778</a:t>
            </a:r>
          </a:p>
          <a:p/>
          <a:p>
            <a:r>
              <a:t>代码：wilor/utils/training_callbacks.py；这些回调改动在221f778之后，尚未提交。</a:t>
            </a:r>
          </a:p>
          <a:p>
            <a:r>
              <a:t>本机根目录：/data/xjiang390/projects/WiLoR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来源与核验范围</a:t>
            </a:r>
          </a:p>
          <a:p>
            <a:r>
              <a:t>官方评分: https://github.com/lmb-freiburg/freihand/tree/5ea4ab9763fea0eec988a52bfa563333cb16523f</a:t>
            </a:r>
          </a:p>
          <a:p>
            <a:r>
              <a:t>HaMeR评测: https://github.com/geopavlakos/hamer/blob/main/eval.py</a:t>
            </a:r>
          </a:p>
          <a:p/>
          <a:p>
            <a:r>
              <a:t>不得用正式测试集反复选epoch、调阈值或调整裁剪来追论文数值。</a:t>
            </a:r>
          </a:p>
          <a:p>
            <a:r>
              <a:t>本机根目录：/data/xjiang390/projects/WiLoR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来源与核验范围</a:t>
            </a:r>
          </a:p>
          <a:p>
            <a:r>
              <a:t>论文: https://arxiv.org/html/2409.12259v2</a:t>
            </a:r>
          </a:p>
          <a:p>
            <a:r>
              <a:t>官方评分: https://github.com/lmb-freiburg/freihand/tree/5ea4ab9763fea0eec988a52bfa563333cb16523f</a:t>
            </a:r>
          </a:p>
          <a:p/>
          <a:p>
            <a:r>
              <a:t>这是正式3960张评测；不是本机自训练结果。差距原因尚未定位，不能认定完全复现。</a:t>
            </a:r>
          </a:p>
          <a:p>
            <a:r>
              <a:t>本机根目录：/data/xjiang390/projects/WiLoR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来源与核验范围</a:t>
            </a:r>
          </a:p>
          <a:p>
            <a:r>
              <a:t>本机版本: https://github.com/choppa129/WiLoR/commit/221f778</a:t>
            </a:r>
          </a:p>
          <a:p/>
          <a:p>
            <a:r>
              <a:t>旧训练不是“一万步”；旧checkpoint确认RefineNet已有优化器状态，不是本次才加入。</a:t>
            </a:r>
          </a:p>
          <a:p>
            <a:r>
              <a:t>本机根目录：/data/xjiang390/projects/WiLoR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来源与核验范围</a:t>
            </a:r>
          </a:p>
          <a:p>
            <a:r>
              <a:t>模型代码: https://github.com/rolpotamias/WiLoR/blob/fcb911312a38fa8badd30d9656a167485d61b8f9/wilor/models/wilor.py</a:t>
            </a:r>
          </a:p>
          <a:p>
            <a:r>
              <a:t>本机版本: https://github.com/choppa129/WiLoR/commit/221f778</a:t>
            </a:r>
          </a:p>
          <a:p/>
          <a:p>
            <a:r>
              <a:t>当前NUM_POSE_TOKENS=16、PROJECTION=perspective、OFFICIAL_LOSSES=true。</a:t>
            </a:r>
          </a:p>
          <a:p>
            <a:r>
              <a:t>本机根目录：/data/xjiang390/projects/WiLoR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来源与核验范围</a:t>
            </a:r>
          </a:p>
          <a:p>
            <a:r>
              <a:t>本机版本: https://github.com/choppa129/WiLoR/commit/221f778</a:t>
            </a:r>
          </a:p>
          <a:p/>
          <a:p>
            <a:r>
              <a:t>内部holdout；*训练loss为日志记录，未作为跨rank全局平均保证。仅4点不足以可靠预测收敛轮数。</a:t>
            </a:r>
          </a:p>
          <a:p>
            <a:r>
              <a:t>本机根目录：/data/xjiang390/projects/WiLoR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来源与核验范围</a:t>
            </a:r>
          </a:p>
          <a:p>
            <a:r>
              <a:t>官方配置: https://github.com/rolpotamias/WiLoR/blob/fcb911312a38fa8badd30d9656a167485d61b8f9/pretrained_models/model_config.yaml</a:t>
            </a:r>
          </a:p>
          <a:p/>
          <a:p>
            <a:r>
              <a:t>扩充数据集不能只改权重：还需确认标注转换、训练划分、先验和采样完整性。</a:t>
            </a:r>
          </a:p>
          <a:p>
            <a:r>
              <a:t>本机根目录：/data/xjiang390/projects/WiLoR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来源与核验范围</a:t>
            </a:r>
          </a:p>
          <a:p>
            <a:r>
              <a:t>论文: https://arxiv.org/html/2409.12259v2</a:t>
            </a:r>
          </a:p>
          <a:p>
            <a:r>
              <a:t>官方配置: https://github.com/rolpotamias/WiLoR/blob/fcb911312a38fa8badd30d9656a167485d61b8f9/pretrained_models/model_config.yaml</a:t>
            </a:r>
          </a:p>
          <a:p>
            <a:r>
              <a:t>作者batch回复: https://github.com/rolpotamias/WiLoR/issues/19#issuecomment-2888436633</a:t>
            </a:r>
          </a:p>
          <a:p/>
          <a:p>
            <a:r>
              <a:t>不将“公开实现存在缺口”直接推断为“作者训练有同样缺陷”。</a:t>
            </a:r>
          </a:p>
          <a:p>
            <a:r>
              <a:t>本机根目录：/data/xjiang390/projects/WiLoR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来源与核验范围</a:t>
            </a:r>
          </a:p>
          <a:p>
            <a:r>
              <a:t>本机版本: https://github.com/choppa129/WiLoR/commit/221f778</a:t>
            </a:r>
          </a:p>
          <a:p/>
          <a:p>
            <a:r>
              <a:t>本PPT总结已核验的会话结论；不改变后台训练。</a:t>
            </a:r>
          </a:p>
          <a:p>
            <a:r>
              <a:t>本机根目录：/data/xjiang390/projects/WiLoR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来源与核验范围</a:t>
            </a:r>
          </a:p>
          <a:p>
            <a:r>
              <a:t>论文: https://arxiv.org/html/2409.12259v2</a:t>
            </a:r>
          </a:p>
          <a:p>
            <a:r>
              <a:t>官方配置: https://github.com/rolpotamias/WiLoR/blob/fcb911312a38fa8badd30d9656a167485d61b8f9/pretrained_models/model_config.yaml</a:t>
            </a:r>
          </a:p>
          <a:p>
            <a:r>
              <a:t>模型代码: https://github.com/rolpotamias/WiLoR/blob/fcb911312a38fa8badd30d9656a167485d61b8f9/wilor/models/wilor.py</a:t>
            </a:r>
          </a:p>
          <a:p>
            <a:r>
              <a:t>ViT代码: https://github.com/rolpotamias/WiLoR/blob/fcb911312a38fa8badd30d9656a167485d61b8f9/wilor/models/backbones/vit.py</a:t>
            </a:r>
          </a:p>
          <a:p>
            <a:r>
              <a:t>RefineNet: https://github.com/rolpotamias/WiLoR/blob/fcb911312a38fa8badd30d9656a167485d61b8f9/wilor/models/heads/refinement_net.py</a:t>
            </a:r>
          </a:p>
          <a:p>
            <a:r>
              <a:t>损失代码: https://github.com/rolpotamias/WiLoR/blob/fcb911312a38fa8badd30d9656a167485d61b8f9/wilor/models/losses.py</a:t>
            </a:r>
          </a:p>
          <a:p/>
          <a:p/>
          <a:p>
            <a:r>
              <a:t>本机根目录：/data/xjiang390/projects/WiLoR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来源与核验范围</a:t>
            </a:r>
          </a:p>
          <a:p>
            <a:r>
              <a:t>作者batch回复: https://github.com/rolpotamias/WiLoR/issues/19#issuecomment-2888436633</a:t>
            </a:r>
          </a:p>
          <a:p>
            <a:r>
              <a:t>HaMeR下载: https://github.com/geopavlakos/hamer/blob/main/fetch_training_data.sh</a:t>
            </a:r>
          </a:p>
          <a:p>
            <a:r>
              <a:t>HaMeR相机追溯: https://github.com/geopavlakos/hamer/issues/41#issuecomment-2078067937</a:t>
            </a:r>
          </a:p>
          <a:p>
            <a:r>
              <a:t>官方评分: https://github.com/lmb-freiburg/freihand/tree/5ea4ab9763fea0eec988a52bfa563333cb16523f</a:t>
            </a:r>
          </a:p>
          <a:p>
            <a:r>
              <a:t>本机版本: https://github.com/choppa129/WiLoR/commit/221f778</a:t>
            </a:r>
          </a:p>
          <a:p>
            <a:r>
              <a:t>HaMeR评测: https://github.com/geopavlakos/hamer/blob/main/eval.py</a:t>
            </a:r>
          </a:p>
          <a:p/>
          <a:p/>
          <a:p>
            <a:r>
              <a:t>本机根目录：/data/xjiang390/projects/WiLoR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核验时间：2026-10-15 16:09 EDT</a:t>
            </a:r>
          </a:p>
          <a:p>
            <a:r>
              <a:t>进度是本次核验快照，不会随训练实时更新；原有页面保留为历史复盘。</a:t>
            </a:r>
          </a:p>
          <a:p>
            <a:r>
              <a:t>证据路径：</a:t>
            </a:r>
          </a:p>
          <a:p>
            <a:r>
              <a:t>/data/xjiang390/projects/WiLoR/reports/stopped_freihand_epoch50/metrics.json</a:t>
            </a:r>
          </a:p>
          <a:p>
            <a:r>
              <a:t>/data/xjiang390/projects/WiLoR/logs/train/runs/wilor_four_dataset_2gpu_50epoch_20261015T200534Z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核验时间：2026-10-15 16:09 EDT</a:t>
            </a:r>
          </a:p>
          <a:p>
            <a:r>
              <a:t>同一checkpoint，eval模式、关闭增强、FP32。loss为每样本监督项，不含对抗项；F-score不是分类accuracy。</a:t>
            </a:r>
          </a:p>
          <a:p>
            <a:r>
              <a:t>证据路径：</a:t>
            </a:r>
          </a:p>
          <a:p>
            <a:r>
              <a:t>/data/xjiang390/projects/WiLoR/reports/stopped_freihand_epoch50/metrics.json</a:t>
            </a:r>
          </a:p>
          <a:p>
            <a:r>
              <a:t>/data/xjiang390/projects/WiLoR/logs/train/runs/wilor_four_dataset_2gpu_50epoch_20261015T200534Z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核验时间：2026-10-15 16:09 EDT</a:t>
            </a:r>
          </a:p>
          <a:p>
            <a:r>
              <a:t>官方20:10:5:5权重在所选四数据集内归一化。FreiHAND训练记录已排除固定10%分组留出集。</a:t>
            </a:r>
          </a:p>
          <a:p>
            <a:r>
              <a:t>证据路径：</a:t>
            </a:r>
          </a:p>
          <a:p>
            <a:r>
              <a:t>/data/xjiang390/projects/WiLoR/reports/stopped_freihand_epoch50/metrics.json</a:t>
            </a:r>
          </a:p>
          <a:p>
            <a:r>
              <a:t>/data/xjiang390/projects/WiLoR/logs/train/runs/wilor_four_dataset_2gpu_50epoch_20261015T200534Z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核验时间：2026-10-15 16:09 EDT</a:t>
            </a:r>
          </a:p>
          <a:p>
            <a:r>
              <a:t>自动评测随GPU数量改为两卡分片汇总；当前尚无实验B的验证指标或最终结果。</a:t>
            </a:r>
          </a:p>
          <a:p>
            <a:r>
              <a:t>证据路径：</a:t>
            </a:r>
          </a:p>
          <a:p>
            <a:r>
              <a:t>/data/xjiang390/projects/WiLoR/reports/stopped_freihand_epoch50/metrics.json</a:t>
            </a:r>
          </a:p>
          <a:p>
            <a:r>
              <a:t>/data/xjiang390/projects/WiLoR/logs/train/runs/wilor_four_dataset_2gpu_50epoch_20261015T200534Z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核验时间：2026-10-15 16:09 EDT</a:t>
            </a:r>
          </a:p>
          <a:p>
            <a:r>
              <a:t>当前验证集仍仅为FreiHAND；内部留出集结果不能直接与论文正式测试集数字对比。</a:t>
            </a:r>
          </a:p>
          <a:p>
            <a:r>
              <a:t>证据路径：</a:t>
            </a:r>
          </a:p>
          <a:p>
            <a:r>
              <a:t>/data/xjiang390/projects/WiLoR/reports/stopped_freihand_epoch50/metrics.json</a:t>
            </a:r>
          </a:p>
          <a:p>
            <a:r>
              <a:t>/data/xjiang390/projects/WiLoR/logs/train/runs/wilor_four_dataset_2gpu_50epoch_20261015T200534Z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html/2409.12259v2" TargetMode="External"/><Relationship Id="rId3" Type="http://schemas.openxmlformats.org/officeDocument/2006/relationships/hyperlink" Target="https://github.com/choppa129/WiLoR/commit/221f778" TargetMode="Externa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html/2409.12259v2" TargetMode="External"/><Relationship Id="rId3" Type="http://schemas.openxmlformats.org/officeDocument/2006/relationships/hyperlink" Target="https://github.com/rolpotamias/WiLoR/blob/fcb911312a38fa8badd30d9656a167485d61b8f9/pretrained_models/model_config.yaml" TargetMode="Externa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olpotamias/WiLoR/blob/fcb911312a38fa8badd30d9656a167485d61b8f9/wilor/models/wilor.py" TargetMode="External"/><Relationship Id="rId3" Type="http://schemas.openxmlformats.org/officeDocument/2006/relationships/hyperlink" Target="https://github.com/rolpotamias/WiLoR/blob/fcb911312a38fa8badd30d9656a167485d61b8f9/wilor/models/heads/refinement_net.py" TargetMode="Externa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html/2409.12259v2" TargetMode="External"/><Relationship Id="rId3" Type="http://schemas.openxmlformats.org/officeDocument/2006/relationships/hyperlink" Target="https://github.com/rolpotamias/WiLoR/blob/fcb911312a38fa8badd30d9656a167485d61b8f9/wilor/models/backbones/vit.py" TargetMode="Externa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html/2409.12259v2" TargetMode="External"/><Relationship Id="rId3" Type="http://schemas.openxmlformats.org/officeDocument/2006/relationships/hyperlink" Target="https://github.com/rolpotamias/WiLoR/blob/fcb911312a38fa8badd30d9656a167485d61b8f9/wilor/models/wilor.py" TargetMode="External"/><Relationship Id="rId4" Type="http://schemas.openxmlformats.org/officeDocument/2006/relationships/hyperlink" Target="https://github.com/rolpotamias/WiLoR/blob/fcb911312a38fa8badd30d9656a167485d61b8f9/wilor/models/heads/refinement_net.py" TargetMode="External"/><Relationship Id="rId5" Type="http://schemas.openxmlformats.org/officeDocument/2006/relationships/hyperlink" Target="https://github.com/rolpotamias/WiLoR/blob/fcb911312a38fa8badd30d9656a167485d61b8f9/wilor/models/losses.py" TargetMode="Externa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html/2409.12259v2" TargetMode="External"/><Relationship Id="rId3" Type="http://schemas.openxmlformats.org/officeDocument/2006/relationships/hyperlink" Target="https://github.com/rolpotamias/WiLoR/blob/fcb911312a38fa8badd30d9656a167485d61b8f9/wilor/models/wilor.py" TargetMode="External"/><Relationship Id="rId4" Type="http://schemas.openxmlformats.org/officeDocument/2006/relationships/hyperlink" Target="https://github.com/rolpotamias/WiLoR/blob/fcb911312a38fa8badd30d9656a167485d61b8f9/pretrained_models/model_config.yaml" TargetMode="External"/><Relationship Id="rId5" Type="http://schemas.openxmlformats.org/officeDocument/2006/relationships/hyperlink" Target="https://github.com/rolpotamias/WiLoR/issues/19#issuecomment-2888436633" TargetMode="Externa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olpotamias/WiLoR/blob/fcb911312a38fa8badd30d9656a167485d61b8f9/wilor/models/backbones/vit.py" TargetMode="External"/><Relationship Id="rId3" Type="http://schemas.openxmlformats.org/officeDocument/2006/relationships/hyperlink" Target="https://github.com/geopavlakos/hamer/issues/41#issuecomment-2078067937" TargetMode="Externa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olpotamias/WiLoR/blob/fcb911312a38fa8badd30d9656a167485d61b8f9/wilor/models/wilor.py" TargetMode="External"/><Relationship Id="rId3" Type="http://schemas.openxmlformats.org/officeDocument/2006/relationships/hyperlink" Target="https://github.com/rolpotamias/WiLoR/blob/fcb911312a38fa8badd30d9656a167485d61b8f9/wilor/models/heads/refinement_net.py" TargetMode="External"/><Relationship Id="rId4" Type="http://schemas.openxmlformats.org/officeDocument/2006/relationships/hyperlink" Target="https://github.com/rolpotamias/WiLoR/blob/fcb911312a38fa8badd30d9656a167485d61b8f9/pretrained_models/model_config.yaml" TargetMode="Externa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olpotamias/WiLoR/blob/fcb911312a38fa8badd30d9656a167485d61b8f9/wilor/models/backbones/vit.py" TargetMode="External"/><Relationship Id="rId3" Type="http://schemas.openxmlformats.org/officeDocument/2006/relationships/hyperlink" Target="https://github.com/rolpotamias/WiLoR/blob/fcb911312a38fa8badd30d9656a167485d61b8f9/wilor/models/heads/refinement_net.py" TargetMode="External"/><Relationship Id="rId4" Type="http://schemas.openxmlformats.org/officeDocument/2006/relationships/hyperlink" Target="https://github.com/rolpotamias/WiLoR/blob/fcb911312a38fa8badd30d9656a167485d61b8f9/pretrained_models/model_config.yaml" TargetMode="Externa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olpotamias/WiLoR/blob/fcb911312a38fa8badd30d9656a167485d61b8f9/wilor/models/heads/refinement_net.py" TargetMode="External"/><Relationship Id="rId3" Type="http://schemas.openxmlformats.org/officeDocument/2006/relationships/hyperlink" Target="https://github.com/rolpotamias/WiLoR/blob/fcb911312a38fa8badd30d9656a167485d61b8f9/wilor/models/losses.py" TargetMode="External"/><Relationship Id="rId4" Type="http://schemas.openxmlformats.org/officeDocument/2006/relationships/hyperlink" Target="https://github.com/rolpotamias/WiLoR/blob/fcb911312a38fa8badd30d9656a167485d61b8f9/pretrained_models/model_config.yaml" TargetMode="Externa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olpotamias/WiLoR/blob/fcb911312a38fa8badd30d9656a167485d61b8f9/pretrained_models/model_config.yaml" TargetMode="Externa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geopavlakos/hamer/blob/main/fetch_training_data.sh" TargetMode="Externa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olpotamias/WiLoR/blob/fcb911312a38fa8badd30d9656a167485d61b8f9/pretrained_models/model_config.yaml" TargetMode="External"/><Relationship Id="rId3" Type="http://schemas.openxmlformats.org/officeDocument/2006/relationships/hyperlink" Target="https://github.com/geopavlakos/hamer/blob/main/fetch_training_data.sh" TargetMode="Externa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olpotamias/WiLoR/issues/19#issuecomment-2888436633" TargetMode="External"/><Relationship Id="rId3" Type="http://schemas.openxmlformats.org/officeDocument/2006/relationships/hyperlink" Target="https://github.com/rolpotamias/WiLoR/blob/fcb911312a38fa8badd30d9656a167485d61b8f9/pretrained_models/model_config.yaml" TargetMode="External"/><Relationship Id="rId4" Type="http://schemas.openxmlformats.org/officeDocument/2006/relationships/hyperlink" Target="https://github.com/rolpotamias/WiLoR/blob/fcb911312a38fa8badd30d9656a167485d61b8f9/wilor/models/wilor.py" TargetMode="Externa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olpotamias/WiLoR/blob/fcb911312a38fa8badd30d9656a167485d61b8f9/pretrained_models/model_config.yaml" TargetMode="Externa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choppa129/WiLoR/commit/221f778" TargetMode="Externa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lmb-freiburg/freihand/tree/5ea4ab9763fea0eec988a52bfa563333cb16523f" TargetMode="External"/><Relationship Id="rId3" Type="http://schemas.openxmlformats.org/officeDocument/2006/relationships/hyperlink" Target="https://github.com/geopavlakos/hamer/blob/main/eval.py" TargetMode="External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html/2409.12259v2" TargetMode="External"/><Relationship Id="rId3" Type="http://schemas.openxmlformats.org/officeDocument/2006/relationships/hyperlink" Target="https://github.com/lmb-freiburg/freihand/tree/5ea4ab9763fea0eec988a52bfa563333cb16523f" TargetMode="External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choppa129/WiLoR/commit/221f778" TargetMode="Externa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olpotamias/WiLoR/blob/fcb911312a38fa8badd30d9656a167485d61b8f9/wilor/models/wilor.py" TargetMode="External"/><Relationship Id="rId3" Type="http://schemas.openxmlformats.org/officeDocument/2006/relationships/hyperlink" Target="https://github.com/choppa129/WiLoR/commit/221f778" TargetMode="External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choppa129/WiLoR/commit/221f778" TargetMode="Externa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olpotamias/WiLoR/blob/fcb911312a38fa8badd30d9656a167485d61b8f9/pretrained_models/model_config.yaml" TargetMode="Externa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html/2409.12259v2" TargetMode="External"/><Relationship Id="rId3" Type="http://schemas.openxmlformats.org/officeDocument/2006/relationships/hyperlink" Target="https://github.com/rolpotamias/WiLoR/blob/fcb911312a38fa8badd30d9656a167485d61b8f9/pretrained_models/model_config.yaml" TargetMode="External"/><Relationship Id="rId4" Type="http://schemas.openxmlformats.org/officeDocument/2006/relationships/hyperlink" Target="https://github.com/rolpotamias/WiLoR/issues/19#issuecomment-2888436633" TargetMode="Externa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choppa129/WiLoR/commit/221f778" TargetMode="Externa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html/2409.12259v2" TargetMode="External"/><Relationship Id="rId3" Type="http://schemas.openxmlformats.org/officeDocument/2006/relationships/hyperlink" Target="https://github.com/rolpotamias/WiLoR/blob/fcb911312a38fa8badd30d9656a167485d61b8f9/pretrained_models/model_config.yaml" TargetMode="External"/><Relationship Id="rId4" Type="http://schemas.openxmlformats.org/officeDocument/2006/relationships/hyperlink" Target="https://github.com/rolpotamias/WiLoR/blob/fcb911312a38fa8badd30d9656a167485d61b8f9/wilor/models/wilor.py" TargetMode="External"/><Relationship Id="rId5" Type="http://schemas.openxmlformats.org/officeDocument/2006/relationships/hyperlink" Target="https://github.com/rolpotamias/WiLoR/blob/fcb911312a38fa8badd30d9656a167485d61b8f9/wilor/models/backbones/vit.py" TargetMode="External"/><Relationship Id="rId6" Type="http://schemas.openxmlformats.org/officeDocument/2006/relationships/hyperlink" Target="https://github.com/rolpotamias/WiLoR/blob/fcb911312a38fa8badd30d9656a167485d61b8f9/wilor/models/heads/refinement_net.py" TargetMode="External"/><Relationship Id="rId7" Type="http://schemas.openxmlformats.org/officeDocument/2006/relationships/hyperlink" Target="https://github.com/rolpotamias/WiLoR/blob/fcb911312a38fa8badd30d9656a167485d61b8f9/wilor/models/losses.py" TargetMode="External"/><Relationship Id="rId8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olpotamias/WiLoR/issues/19#issuecomment-2888436633" TargetMode="External"/><Relationship Id="rId3" Type="http://schemas.openxmlformats.org/officeDocument/2006/relationships/hyperlink" Target="https://github.com/geopavlakos/hamer/blob/main/fetch_training_data.sh" TargetMode="External"/><Relationship Id="rId4" Type="http://schemas.openxmlformats.org/officeDocument/2006/relationships/hyperlink" Target="https://github.com/geopavlakos/hamer/issues/41#issuecomment-2078067937" TargetMode="External"/><Relationship Id="rId5" Type="http://schemas.openxmlformats.org/officeDocument/2006/relationships/hyperlink" Target="https://github.com/lmb-freiburg/freihand/tree/5ea4ab9763fea0eec988a52bfa563333cb16523f" TargetMode="External"/><Relationship Id="rId6" Type="http://schemas.openxmlformats.org/officeDocument/2006/relationships/hyperlink" Target="https://github.com/choppa129/WiLoR/commit/221f778" TargetMode="External"/><Relationship Id="rId7" Type="http://schemas.openxmlformats.org/officeDocument/2006/relationships/hyperlink" Target="https://github.com/geopavlakos/hamer/blob/main/eval.py" TargetMode="External"/><Relationship Id="rId8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7263D"/>
                </a:solidFill>
                <a:latin typeface="Microsoft YaHei"/>
              </a:defRPr>
            </a:pPr>
            <a:r>
              <a:rPr>
                <a:ea typeface="Microsoft YaHei"/>
              </a:rPr>
              <a:t>WiLoR 手部重建训练复盘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论文 × 官方实现 × 本机补充｜仅 Hand Pose Estimation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08760"/>
          <a:ext cx="11274552" cy="4434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348472"/>
              </a:tblGrid>
              <a:tr h="5303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本次整理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结论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</a:tr>
              <a:tr h="9761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采用原则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已有官方实现优先；缺失训练配套由本机补齐，并明确来源。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9761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当前实验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FreiHAND-only；2×B200，物理 GPU 4、5；总 batch 1024。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  <a:tr h="9761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主要发现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token、投影、3D loss、优化器等存在论文与代码差异。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9761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下一组实验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FreiHAND / InterHand2.6M / MTC / RHD，权重 50/25/12.5/12.5%。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05332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基线 commit 221f778；之后增加了本机最佳模型保存与早停，尚未提交。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7E87"/>
                </a:solidFill>
                <a:latin typeface="Microsoft YaHei"/>
              </a:defRPr>
            </a:pPr>
            <a:r>
              <a:rPr sz="1000">
                <a:latin typeface="Microsoft YaHei"/>
                <a:hlinkClick r:id="rId2"/>
              </a:rPr>
              <a:t>论文  </a:t>
            </a:r>
            <a:r>
              <a:rPr sz="1000">
                <a:latin typeface="Microsoft YaHei"/>
                <a:hlinkClick r:id="rId3"/>
              </a:rPr>
              <a:t>本机版本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07592"/>
            <a:ext cx="11247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007E87"/>
                </a:solidFill>
                <a:latin typeface="Microsoft YaHei"/>
              </a:defRPr>
            </a:pPr>
            <a:r>
              <a:t>历史复盘快照｜最新进展见第27–31页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7263D"/>
                </a:solidFill>
                <a:latin typeface="Microsoft YaHei"/>
              </a:defRPr>
            </a:pPr>
            <a:r>
              <a:rPr>
                <a:ea typeface="Microsoft YaHei"/>
              </a:rPr>
              <a:t>如何阅读这份对照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三类证据不能混为一谈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08760"/>
          <a:ext cx="11274552" cy="4434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5303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类型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含义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本次处理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</a:tr>
              <a:tr h="130149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明确差异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论文文字 / 公式与公开实现不同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逐项列出，按已商定原则采用官方实现。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130149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未公开细节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论文或代码无法确认完整训练行为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标记未知，不推断作者一定没有做。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  <a:tr h="130149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本机选择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为了让训练、验证、恢复可运行而补充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明确参数与影响，不称为作者官方方案。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05332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官方代码固定到 fcb9113；论文为 arXiv v2；HaMeR 来源单独标注。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7E87"/>
                </a:solidFill>
                <a:latin typeface="Microsoft YaHei"/>
              </a:defRPr>
            </a:pPr>
            <a:r>
              <a:rPr sz="1000">
                <a:latin typeface="Microsoft YaHei"/>
                <a:hlinkClick r:id="rId2"/>
              </a:rPr>
              <a:t>论文  </a:t>
            </a:r>
            <a:r>
              <a:rPr sz="1000">
                <a:latin typeface="Microsoft YaHei"/>
                <a:hlinkClick r:id="rId3"/>
              </a:rPr>
              <a:t>官方配置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07592"/>
            <a:ext cx="11247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007E87"/>
                </a:solidFill>
                <a:latin typeface="Microsoft YaHei"/>
              </a:defRPr>
            </a:pPr>
            <a:r>
              <a:t>历史复盘快照｜最新进展见第27–31页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7263D"/>
                </a:solidFill>
                <a:latin typeface="Microsoft YaHei"/>
              </a:defRPr>
            </a:pPr>
            <a:r>
              <a:rPr>
                <a:ea typeface="Microsoft YaHei"/>
              </a:rPr>
              <a:t>从头到尾：当前训练管线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此页为总体流程；后续页面只讨论差异和补充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08760"/>
          <a:ext cx="11274552" cy="4434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348472"/>
              </a:tblGrid>
              <a:tr h="5303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阶段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执行内容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① 数据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HaMeR FreiHAND tar → 本机分组划分 → 官方图像工具处理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② 初始重建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ViTPose 预训练 ViT + 16 pose / 1 shape / 1 camera tokens → 初始 MANO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③ 细化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官方透视投影 → 多尺度顶点采样 → max pooling → pose/shape/camera 残差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④ 更新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关节 + MANO 参数 + 对抗 loss → AdamW 更新 backbone、RefineNet 与判别器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⑤ 验证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内部 holdout → 保存最佳及 last → 早停；最终用正式 FreiHAND benchmark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05332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本机代码：wilor/datasets/finite_freihand.py；wilor/models/wilor.py；train.py。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7E87"/>
                </a:solidFill>
                <a:latin typeface="Microsoft YaHei"/>
              </a:defRPr>
            </a:pPr>
            <a:r>
              <a:rPr sz="1000">
                <a:latin typeface="Microsoft YaHei"/>
                <a:hlinkClick r:id="rId2"/>
              </a:rPr>
              <a:t>模型代码  </a:t>
            </a:r>
            <a:r>
              <a:rPr sz="1000">
                <a:latin typeface="Microsoft YaHei"/>
                <a:hlinkClick r:id="rId3"/>
              </a:rPr>
              <a:t>RefineNet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07592"/>
            <a:ext cx="11247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007E87"/>
                </a:solidFill>
                <a:latin typeface="Microsoft YaHei"/>
              </a:defRPr>
            </a:pPr>
            <a:r>
              <a:t>历史复盘快照｜最新进展见第27–31页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7263D"/>
                </a:solidFill>
                <a:latin typeface="Microsoft YaHei"/>
              </a:defRPr>
            </a:pPr>
            <a:r>
              <a:rPr>
                <a:ea typeface="Microsoft YaHei"/>
              </a:rPr>
              <a:t>明确差异 ①：Backbone 与 token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按公开代码确定网络尺寸与参数 token 数量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08760"/>
          <a:ext cx="11274552" cy="4434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5303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WiLoR 官方代码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WiLoR 论文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本机采用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</a:tr>
              <a:tr h="130149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Backbone：32层 / 1280维 / 16 heads，ViT-H 规格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称为 ViT-Large，同时写 1280 维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保留代码规格；名称不作为改结构的依据。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130149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16 pose + 1 shape + 1 camera，共18个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明文描述3个额外 token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18个；加192个图像 token，共210个。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  <a:tr h="130149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均值 buffer 经可训练 Linear 映射成 tokens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描述为以训练集均值初始化的 learnable tokens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固定初始化值；学习映射层和后续预测层。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05332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A"/>
                </a:solidFill>
                <a:latin typeface="Microsoft YaHei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7E87"/>
                </a:solidFill>
                <a:latin typeface="Microsoft YaHei"/>
              </a:defRPr>
            </a:pPr>
            <a:r>
              <a:rPr sz="1000">
                <a:latin typeface="Microsoft YaHei"/>
                <a:hlinkClick r:id="rId2"/>
              </a:rPr>
              <a:t>论文  </a:t>
            </a:r>
            <a:r>
              <a:rPr sz="1000">
                <a:latin typeface="Microsoft YaHei"/>
                <a:hlinkClick r:id="rId3"/>
              </a:rPr>
              <a:t>ViT代码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07592"/>
            <a:ext cx="11247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007E87"/>
                </a:solidFill>
                <a:latin typeface="Microsoft YaHei"/>
              </a:defRPr>
            </a:pPr>
            <a:r>
              <a:t>历史复盘快照｜最新进展见第27–31页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7263D"/>
                </a:solidFill>
                <a:latin typeface="Microsoft YaHei"/>
              </a:defRPr>
            </a:pPr>
            <a:r>
              <a:rPr>
                <a:ea typeface="Microsoft YaHei"/>
              </a:rPr>
              <a:t>明确差异 ②：相机与监督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同一参数名不代表投影公式或监督对象相同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08760"/>
          <a:ext cx="11274552" cy="4434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5303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WiLoR 官方代码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WiLoR 论文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本机采用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</a:tr>
              <a:tr h="130149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相机：预测[s,tx,ty]，换算tz后做透视投影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特征采样处明确称弱透视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采用官方透视分支，含逐尺度投影。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130149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3D loss：根关节对齐后的关节 L1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公式(8)：网格顶点 L1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使用关节 L1；顶点 loss 权重为0。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  <a:tr h="130149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对抗生成器 loss：平方误差，按batch平均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公式(8)：L2范数，未写外层平方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采用代码的平方形式；这是公式层面差异。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05332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A"/>
                </a:solidFill>
                <a:latin typeface="Microsoft YaHei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7E87"/>
                </a:solidFill>
                <a:latin typeface="Microsoft YaHei"/>
              </a:defRPr>
            </a:pPr>
            <a:r>
              <a:rPr sz="1000">
                <a:latin typeface="Microsoft YaHei"/>
                <a:hlinkClick r:id="rId2"/>
              </a:rPr>
              <a:t>论文  </a:t>
            </a:r>
            <a:r>
              <a:rPr sz="1000">
                <a:latin typeface="Microsoft YaHei"/>
                <a:hlinkClick r:id="rId3"/>
              </a:rPr>
              <a:t>模型代码  </a:t>
            </a:r>
            <a:r>
              <a:rPr sz="1000">
                <a:latin typeface="Microsoft YaHei"/>
                <a:hlinkClick r:id="rId4"/>
              </a:rPr>
              <a:t>RefineNet  </a:t>
            </a:r>
            <a:r>
              <a:rPr sz="1000">
                <a:latin typeface="Microsoft YaHei"/>
                <a:hlinkClick r:id="rId5"/>
              </a:rPr>
              <a:t>损失代码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07592"/>
            <a:ext cx="11247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007E87"/>
                </a:solidFill>
                <a:latin typeface="Microsoft YaHei"/>
              </a:defRPr>
            </a:pPr>
            <a:r>
              <a:t>历史复盘快照｜最新进展见第27–31页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7263D"/>
                </a:solidFill>
                <a:latin typeface="Microsoft YaHei"/>
              </a:defRPr>
            </a:pPr>
            <a:r>
              <a:rPr>
                <a:ea typeface="Microsoft YaHei"/>
              </a:rPr>
              <a:t>明确差异 ③：优化与训练配方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公开配置本身也不能视为最终实验的完整运行记录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08760"/>
          <a:ext cx="11274552" cy="4434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5303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WiLoR 官方代码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WiLoR 论文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本机采用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</a:tr>
              <a:tr h="9761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优化器：AdamW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写Adam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采用AdamW；旧完整训练也使用AdamW。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9761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get_parameters仅列backbone，遗漏RefineNet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提出可学习的refinement模块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将RefineNet加入优化器；旧本机完整训练已这样做。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  <a:tr h="9761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配置 TOTAL_STEPS=1,000,000；完整Trainer未发布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1000 epochs；每轮长度未定义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最多1000个本机有限epoch，可提前停止。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9761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配置 BATCH_SIZE=32；作者另称8卡、有效1024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重建部分未列具体batch分配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2×512，无累积；不能推断作者是否累积。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05332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RefineNet遗漏是公开实现问题，不能据此认定作者原始训练没有更新它。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7E87"/>
                </a:solidFill>
                <a:latin typeface="Microsoft YaHei"/>
              </a:defRPr>
            </a:pPr>
            <a:r>
              <a:rPr sz="1000">
                <a:latin typeface="Microsoft YaHei"/>
                <a:hlinkClick r:id="rId2"/>
              </a:rPr>
              <a:t>论文  </a:t>
            </a:r>
            <a:r>
              <a:rPr sz="1000">
                <a:latin typeface="Microsoft YaHei"/>
                <a:hlinkClick r:id="rId3"/>
              </a:rPr>
              <a:t>模型代码  </a:t>
            </a:r>
            <a:r>
              <a:rPr sz="1000">
                <a:latin typeface="Microsoft YaHei"/>
                <a:hlinkClick r:id="rId4"/>
              </a:rPr>
              <a:t>官方配置  </a:t>
            </a:r>
            <a:r>
              <a:rPr sz="1000">
                <a:latin typeface="Microsoft YaHei"/>
                <a:hlinkClick r:id="rId5"/>
              </a:rPr>
              <a:t>作者batch回复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07592"/>
            <a:ext cx="11247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007E87"/>
                </a:solidFill>
                <a:latin typeface="Microsoft YaHei"/>
              </a:defRPr>
            </a:pPr>
            <a:r>
              <a:t>历史复盘快照｜最新进展见第27–31页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7263D"/>
                </a:solidFill>
                <a:latin typeface="Microsoft YaHei"/>
              </a:defRPr>
            </a:pPr>
            <a:r>
              <a:rPr>
                <a:ea typeface="Microsoft YaHei"/>
              </a:rPr>
              <a:t>初始化：camera=[4,0,0] 从哪里来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这是已经确认的值；其统计来源仍未证实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08760"/>
          <a:ext cx="11274552" cy="4434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5303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WiLoR 官方代码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WiLoR 论文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本机采用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</a:tr>
              <a:tr h="130149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官方均值文件给出 camera=[4,0,0]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称pose、shape、camera来自训练集均值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使用官方文件，不重新计算本机FreiHAND均值。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130149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与HaMeR发布的均值文件字节一致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没有给camera=4的计算过程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视作固定初始化超参，不声称已证实为相机数据均值。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  <a:tr h="130149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HaMeR issue解释部分pose/shape来源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不能补出camera=4的统计依据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保留上游追溯记录，来源未知项继续标注。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05332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本机证据：reports/camera_initialization_study/hamer_upstream_trace.json。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7E87"/>
                </a:solidFill>
                <a:latin typeface="Microsoft YaHei"/>
              </a:defRPr>
            </a:pPr>
            <a:r>
              <a:rPr sz="1000">
                <a:latin typeface="Microsoft YaHei"/>
                <a:hlinkClick r:id="rId2"/>
              </a:rPr>
              <a:t>ViT代码  </a:t>
            </a:r>
            <a:r>
              <a:rPr sz="1000">
                <a:latin typeface="Microsoft YaHei"/>
                <a:hlinkClick r:id="rId3"/>
              </a:rPr>
              <a:t>HaMeR相机追溯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07592"/>
            <a:ext cx="11247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007E87"/>
                </a:solidFill>
                <a:latin typeface="Microsoft YaHei"/>
              </a:defRPr>
            </a:pPr>
            <a:r>
              <a:t>历史复盘快照｜最新进展见第27–31页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7263D"/>
                </a:solidFill>
                <a:latin typeface="Microsoft YaHei"/>
              </a:defRPr>
            </a:pPr>
            <a:r>
              <a:rPr>
                <a:ea typeface="Microsoft YaHei"/>
              </a:rPr>
              <a:t>camera token 如何学习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不直接输入真实相机内外参；图像和监督会影响预测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08760"/>
          <a:ext cx="11274552" cy="4434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348472"/>
              </a:tblGrid>
              <a:tr h="5303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路径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当前行为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初始化与预测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[4,0,0] → Linear → camera token + 图像tokens → [s,tx,ty]。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最终二维监督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初始相机 + Δcamera → 3D关节透视投影 → 2D关键点loss → 两个相机预测分支。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间接梯度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初始相机控制RefineNet采样位置；后续重建loss可经可微采样回传。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没有的项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没有“预测相机 − 真实相机”这一单独监督项；初始化buffer本身不更新。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固定约定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f=5000；最终tz=2f/(256s+ε)。这些不是逐图真实相机标定值。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05332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A"/>
                </a:solidFill>
                <a:latin typeface="Microsoft YaHei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7E87"/>
                </a:solidFill>
                <a:latin typeface="Microsoft YaHei"/>
              </a:defRPr>
            </a:pPr>
            <a:r>
              <a:rPr sz="1000">
                <a:latin typeface="Microsoft YaHei"/>
                <a:hlinkClick r:id="rId2"/>
              </a:rPr>
              <a:t>模型代码  </a:t>
            </a:r>
            <a:r>
              <a:rPr sz="1000">
                <a:latin typeface="Microsoft YaHei"/>
                <a:hlinkClick r:id="rId3"/>
              </a:rPr>
              <a:t>RefineNet  </a:t>
            </a:r>
            <a:r>
              <a:rPr sz="1000">
                <a:latin typeface="Microsoft YaHei"/>
                <a:hlinkClick r:id="rId4"/>
              </a:rPr>
              <a:t>官方配置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07592"/>
            <a:ext cx="11247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007E87"/>
                </a:solidFill>
                <a:latin typeface="Microsoft YaHei"/>
              </a:defRPr>
            </a:pPr>
            <a:r>
              <a:t>历史复盘快照｜最新进展见第27–31页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7263D"/>
                </a:solidFill>
                <a:latin typeface="Microsoft YaHei"/>
              </a:defRPr>
            </a:pPr>
            <a:r>
              <a:rPr>
                <a:ea typeface="Microsoft YaHei"/>
              </a:rPr>
              <a:t>代码明确，但论文未完整规定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这里属于细节补全，不全部属于直接矛盾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08760"/>
          <a:ext cx="11274552" cy="4434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5303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WiLoR 官方代码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WiLoR 论文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本机采用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</a:tr>
              <a:tr h="9761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裁剪256×256，左右各裁32px；ImageNet归一化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未展开完整读取、padding和归一化配方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模型内裁剪照代码；读取配套使用HaMeR+WiLoR工具。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9761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均值文件、固定焦距5000、逐尺度深度换算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未给这些常数和逐尺度实现细节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保留官方值和采样行为。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  <a:tr h="9761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ViT各层drop-path从0递增到0.55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未说明该正则化超参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保留0.55。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9761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多尺度640/320/160通道，拼接1120维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说明多尺度反卷积，未穷举分支通道细节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按官方RefineNet实现。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05332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A"/>
                </a:solidFill>
                <a:latin typeface="Microsoft YaHei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7E87"/>
                </a:solidFill>
                <a:latin typeface="Microsoft YaHei"/>
              </a:defRPr>
            </a:pPr>
            <a:r>
              <a:rPr sz="1000">
                <a:latin typeface="Microsoft YaHei"/>
                <a:hlinkClick r:id="rId2"/>
              </a:rPr>
              <a:t>ViT代码  </a:t>
            </a:r>
            <a:r>
              <a:rPr sz="1000">
                <a:latin typeface="Microsoft YaHei"/>
                <a:hlinkClick r:id="rId3"/>
              </a:rPr>
              <a:t>RefineNet  </a:t>
            </a:r>
            <a:r>
              <a:rPr sz="1000">
                <a:latin typeface="Microsoft YaHei"/>
                <a:hlinkClick r:id="rId4"/>
              </a:rPr>
              <a:t>官方配置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07592"/>
            <a:ext cx="11247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007E87"/>
                </a:solidFill>
                <a:latin typeface="Microsoft YaHei"/>
              </a:defRPr>
            </a:pPr>
            <a:r>
              <a:t>历史复盘快照｜最新进展见第27–31页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7263D"/>
                </a:solidFill>
                <a:latin typeface="Microsoft YaHei"/>
              </a:defRPr>
            </a:pPr>
            <a:r>
              <a:rPr>
                <a:ea typeface="Microsoft YaHei"/>
              </a:rPr>
              <a:t>代码明确，但论文未完整规定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损失计算与图像采样的细节会影响训练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08760"/>
          <a:ext cx="11274552" cy="4434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5303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WiLoR 官方代码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WiLoR 论文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本机采用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</a:tr>
              <a:tr h="9761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grid_sample双线性，align_corners=True；max pooling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双线性采样；聚合举例mean/max/sum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使用官方max与坐标换算。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9761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pose监督转换到旋转矩阵后计算平方误差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写θ平方误差，未完整指定表示转换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按旋转矩阵监督。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  <a:tr h="9761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监督loss按batch求和；对抗loss按batch平均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未指定batch及坐标维度归约规则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保留loss公式，另做本机反向尺度适配。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9761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配置平移0.02、概率0.5，但函数未使用概率字段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重建增强描述未明确平移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保留代码实际行为，不另加50%开关。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05332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A"/>
                </a:solidFill>
                <a:latin typeface="Microsoft YaHei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7E87"/>
                </a:solidFill>
                <a:latin typeface="Microsoft YaHei"/>
              </a:defRPr>
            </a:pPr>
            <a:r>
              <a:rPr sz="1000">
                <a:latin typeface="Microsoft YaHei"/>
                <a:hlinkClick r:id="rId2"/>
              </a:rPr>
              <a:t>RefineNet  </a:t>
            </a:r>
            <a:r>
              <a:rPr sz="1000">
                <a:latin typeface="Microsoft YaHei"/>
                <a:hlinkClick r:id="rId3"/>
              </a:rPr>
              <a:t>损失代码  </a:t>
            </a:r>
            <a:r>
              <a:rPr sz="1000">
                <a:latin typeface="Microsoft YaHei"/>
                <a:hlinkClick r:id="rId4"/>
              </a:rPr>
              <a:t>官方配置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07592"/>
            <a:ext cx="11247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007E87"/>
                </a:solidFill>
                <a:latin typeface="Microsoft YaHei"/>
              </a:defRPr>
            </a:pPr>
            <a:r>
              <a:t>历史复盘快照｜最新进展见第27–31页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7263D"/>
                </a:solidFill>
                <a:latin typeface="Microsoft YaHei"/>
              </a:defRPr>
            </a:pPr>
            <a:r>
              <a:rPr>
                <a:ea typeface="Microsoft YaHei"/>
              </a:rPr>
              <a:t>官方数据集与采样比例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权重来自WiLoR官方配置；表示抽样比例，不是loss权重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08760"/>
          <a:ext cx="1127455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5303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数据集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权重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数据集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权重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FreiHAND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20%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InterHand2.6M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10%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MTC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5%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RHD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5%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COCO WholeBody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5%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Halpe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5%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MPII NZSL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5%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HO3D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5%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H2O3D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5%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DexYCB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5%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BEDLAM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5%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Re:InterHand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10%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HOT3D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5%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ARCTIC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10%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05332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14个数据集合计100%；当前实验仅FreiHAND，抽样比例100%。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7E87"/>
                </a:solidFill>
                <a:latin typeface="Microsoft YaHei"/>
              </a:defRPr>
            </a:pPr>
            <a:r>
              <a:rPr sz="1000">
                <a:latin typeface="Microsoft YaHei"/>
                <a:hlinkClick r:id="rId2"/>
              </a:rPr>
              <a:t>官方配置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07592"/>
            <a:ext cx="11247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007E87"/>
                </a:solidFill>
                <a:latin typeface="Microsoft YaHei"/>
              </a:defRPr>
            </a:pPr>
            <a:r>
              <a:t>历史复盘快照｜最新进展见第27–31页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7263D"/>
                </a:solidFill>
                <a:latin typeface="Microsoft YaHei"/>
              </a:defRPr>
            </a:pPr>
            <a:r>
              <a:rPr>
                <a:ea typeface="Microsoft YaHei"/>
              </a:rPr>
              <a:t>数据来源与预处理：已确认到哪一步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现成数据可直接使用，不等于完全复刻作者原始制作过程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08760"/>
          <a:ext cx="11274552" cy="4434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348472"/>
              </a:tblGrid>
              <a:tr h="5303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公开信息 / 核验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结论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</a:tr>
              <a:tr h="9761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HaMeR官方fetch_training_data.sh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本机使用其官方发布包中的FreiHAND tar。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9761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官方远端与本机包大小一致；前1MiB一致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压缩包40,526,669,221字节；支持来源追溯。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  <a:tr h="9761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抽查000027.tar的SHA-256一致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确认抽查分片来自本机原始下载包；不是全部分片完整性校验。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9761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WiLoR未发布完整原始数据转换脚本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不能确认其每个标签转换、过滤、数据版本都与HaMeR完全相同。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05332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源文件制作与训练时在线裁剪/随机增强是两步；预处理包不意味着在线不再处理。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7E87"/>
                </a:solidFill>
                <a:latin typeface="Microsoft YaHei"/>
              </a:defRPr>
            </a:pPr>
            <a:r>
              <a:rPr sz="1000">
                <a:latin typeface="Microsoft YaHei"/>
                <a:hlinkClick r:id="rId2"/>
              </a:rPr>
              <a:t>HaMeR下载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07592"/>
            <a:ext cx="11247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007E87"/>
                </a:solidFill>
                <a:latin typeface="Microsoft YaHei"/>
              </a:defRPr>
            </a:pPr>
            <a:r>
              <a:t>历史复盘快照｜最新进展见第27–31页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7263D"/>
                </a:solidFill>
                <a:latin typeface="Microsoft YaHei"/>
              </a:defRPr>
            </a:pPr>
            <a:r>
              <a:rPr>
                <a:ea typeface="Microsoft YaHei"/>
              </a:rPr>
              <a:t>官方缺失 → 本机补充：数据与监督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训练数据保持FreiHAND-only；内部验证与正式测试分开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08760"/>
          <a:ext cx="11274552" cy="4434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5303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官方没有完整给出的部分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本机实现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影响 / 限制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训练Dataset / DataModule / epoch组织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FiniteFreiHAND索引tar；有限、打乱的epoch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不是WiLoR发布的完整读取入口。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内部训练/验证划分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按capture ID分组90/10；117216 / 13024张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四种外观版本同侧，防止同一拍摄跨集合。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对抗真实先验抽样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仅从训练划分独立抽pose/shape；1:1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不使用holdout先验；不同于旧独立mocap文件。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缺失shape标签策略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BETAS_REG=false；不补零shape标签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当前FreiHAND都有标签，影响有限。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样本清洗 / 框制作的全部细节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沿用HaMeR现成标注与官方在线处理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不能宣称等同作者全部训练集处理。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05332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代码：wilor/datasets/finite_freihand.py；image_dataset.py；datasets/__init__.py。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7E87"/>
                </a:solidFill>
                <a:latin typeface="Microsoft YaHei"/>
              </a:defRPr>
            </a:pPr>
            <a:r>
              <a:rPr sz="1000">
                <a:latin typeface="Microsoft YaHei"/>
                <a:hlinkClick r:id="rId2"/>
              </a:rPr>
              <a:t>官方配置  </a:t>
            </a:r>
            <a:r>
              <a:rPr sz="1000">
                <a:latin typeface="Microsoft YaHei"/>
                <a:hlinkClick r:id="rId3"/>
              </a:rPr>
              <a:t>HaMeR下载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07592"/>
            <a:ext cx="11247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007E87"/>
                </a:solidFill>
                <a:latin typeface="Microsoft YaHei"/>
              </a:defRPr>
            </a:pPr>
            <a:r>
              <a:t>历史复盘快照｜最新进展见第27–31页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7263D"/>
                </a:solidFill>
                <a:latin typeface="Microsoft YaHei"/>
              </a:defRPr>
            </a:pPr>
            <a:r>
              <a:rPr>
                <a:ea typeface="Microsoft YaHei"/>
              </a:rPr>
              <a:t>官方缺失 → 本机补充：运行方式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有效batch相同不保证各实现逐位等价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08760"/>
          <a:ext cx="11274552" cy="4434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5303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项目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当前选择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依据 / 注意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有效batch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2卡×512×1次累积=1024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作者只确认8卡和有效1024；每卡128只是无累积参考假设。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反向尺度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监督loss×128/512=0.25；对抗项不缩放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按8×128参考推导；不是已证实的作者梯度尺度。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精度 / 显存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FP32；activation checkpointing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本机适配；重算激活降低显存。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优化器 / scheduler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AdamW；lr=1e-5，wd=1e-4；无scheduler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代码采用AdamW；完整作者衰减日程未知。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分布式 / 随机性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DDP + SyncBatchNorm；seed42；非强制确定性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4 workers/进程；不承诺逐位一致。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05332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Adam把传统L2项耦合进梯度；AdamW解耦权重衰减，相同weight_decay不保证等效。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7E87"/>
                </a:solidFill>
                <a:latin typeface="Microsoft YaHei"/>
              </a:defRPr>
            </a:pPr>
            <a:r>
              <a:rPr sz="1000">
                <a:latin typeface="Microsoft YaHei"/>
                <a:hlinkClick r:id="rId2"/>
              </a:rPr>
              <a:t>作者batch回复  </a:t>
            </a:r>
            <a:r>
              <a:rPr sz="1000">
                <a:latin typeface="Microsoft YaHei"/>
                <a:hlinkClick r:id="rId3"/>
              </a:rPr>
              <a:t>官方配置  </a:t>
            </a:r>
            <a:r>
              <a:rPr sz="1000">
                <a:latin typeface="Microsoft YaHei"/>
                <a:hlinkClick r:id="rId4"/>
              </a:rPr>
              <a:t>模型代码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07592"/>
            <a:ext cx="11247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007E87"/>
                </a:solidFill>
                <a:latin typeface="Microsoft YaHei"/>
              </a:defRPr>
            </a:pPr>
            <a:r>
              <a:t>历史复盘快照｜最新进展见第27–31页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7263D"/>
                </a:solidFill>
                <a:latin typeface="Microsoft YaHei"/>
              </a:defRPr>
            </a:pPr>
            <a:r>
              <a:rPr>
                <a:ea typeface="Microsoft YaHei"/>
              </a:rPr>
              <a:t>训练量：1000 epochs在本机意味着什么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不能把本机epoch直接等同作者混合数据集epoch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08760"/>
          <a:ext cx="11274552" cy="4434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348472"/>
              </a:tblGrid>
              <a:tr h="5303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项目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本机定义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每轮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117216个训练样本；全局batch1024；114个训练batch。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尾部处理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drop_last：每轮实际116736张，丢弃480张；下轮重新打乱。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每轮更新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生成器114次；判别器114次；Lightning两种optimizer分别计步。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最多1000轮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生成器、判别器各114000次；累计约1.167亿次图像输入，含重复。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停止规则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1000轮是上限；验证集早停可提前结束。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05332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实测完整第2、3、4轮各约20分12秒；跑满约14天，不等于收敛预测。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7E87"/>
                </a:solidFill>
                <a:latin typeface="Microsoft YaHei"/>
              </a:defRPr>
            </a:pPr>
            <a:r>
              <a:rPr sz="1000">
                <a:latin typeface="Microsoft YaHei"/>
                <a:hlinkClick r:id="rId2"/>
              </a:rPr>
              <a:t>官方配置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07592"/>
            <a:ext cx="11247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007E87"/>
                </a:solidFill>
                <a:latin typeface="Microsoft YaHei"/>
              </a:defRPr>
            </a:pPr>
            <a:r>
              <a:t>历史复盘快照｜最新进展见第27–31页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7263D"/>
                </a:solidFill>
                <a:latin typeface="Microsoft YaHei"/>
              </a:defRPr>
            </a:pPr>
            <a:r>
              <a:rPr>
                <a:ea typeface="Microsoft YaHei"/>
              </a:rPr>
              <a:t>最佳模型保存与自动早停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本机新增规则，非论文训练配方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08760"/>
          <a:ext cx="11274552" cy="4434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348472"/>
              </a:tblGrid>
              <a:tr h="5303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功能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当前行为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监控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内部holdout的 val/pa_mpjpe_mm，越低越好。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best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每轮验证后保留最低PA-MPJPE的模型；任何更低值都可更新best。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last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每轮验证后保存可恢复的最新checkpoint，包含优化器和回调状态。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早停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min_delta=0.1mm，patience=20次验证；超过0.1mm的有效改善才重置计数。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启用过程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从首个global_step=1000 checkpoint恢复；此前未存的每轮权重无法补回。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05332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代码：wilor/utils/training_callbacks.py；这些回调改动在221f778之后，尚未提交。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7E87"/>
                </a:solidFill>
                <a:latin typeface="Microsoft YaHei"/>
              </a:defRPr>
            </a:pPr>
            <a:r>
              <a:rPr sz="1000">
                <a:latin typeface="Microsoft YaHei"/>
                <a:hlinkClick r:id="rId2"/>
              </a:rPr>
              <a:t>本机版本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07592"/>
            <a:ext cx="11247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007E87"/>
                </a:solidFill>
                <a:latin typeface="Microsoft YaHei"/>
              </a:defRPr>
            </a:pPr>
            <a:r>
              <a:t>历史复盘快照｜最新进展见第27–31页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7263D"/>
                </a:solidFill>
                <a:latin typeface="Microsoft YaHei"/>
              </a:defRPr>
            </a:pPr>
            <a:r>
              <a:rPr>
                <a:ea typeface="Microsoft YaHei"/>
              </a:rPr>
              <a:t>验证与评测：哪些是本机补齐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训练监控用于选模型；正式测试用于最终报告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08760"/>
          <a:ext cx="11274552" cy="4434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5303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阶段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本机方案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未确认部分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训练中验证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每轮完整holdout；PA关节/顶点误差与F@5/15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作者内部划分、验证频率和选模规则未知。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内部顶点真值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由标注MANO参数生成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不等同于正式评测直接读取官方顶点。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正式FreiHAND评测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3960张官方样本；官方关节/顶点真值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当前未覆盖论文全部HO3D等评测。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输入预处理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HaMeR freihand_val.npz；WiLoR裁剪；BBOX_SHAPE=[192,256]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WiLoR当年benchmark裁剪入口未公开。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评分实现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FreiHAND官方指标函数；SciPy替代旧Open3D最近邻接口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数学一致性已测试；不是WiLoR自带评测入口。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05332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不得用正式测试集反复选epoch、调阈值或调整裁剪来追论文数值。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7E87"/>
                </a:solidFill>
                <a:latin typeface="Microsoft YaHei"/>
              </a:defRPr>
            </a:pPr>
            <a:r>
              <a:rPr sz="1000">
                <a:latin typeface="Microsoft YaHei"/>
                <a:hlinkClick r:id="rId2"/>
              </a:rPr>
              <a:t>官方评分  </a:t>
            </a:r>
            <a:r>
              <a:rPr sz="1000">
                <a:latin typeface="Microsoft YaHei"/>
                <a:hlinkClick r:id="rId3"/>
              </a:rPr>
              <a:t>HaMeR评测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07592"/>
            <a:ext cx="11247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007E87"/>
                </a:solidFill>
                <a:latin typeface="Microsoft YaHei"/>
              </a:defRPr>
            </a:pPr>
            <a:r>
              <a:t>历史复盘快照｜最新进展见第27–31页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7263D"/>
                </a:solidFill>
                <a:latin typeface="Microsoft YaHei"/>
              </a:defRPr>
            </a:pPr>
            <a:r>
              <a:rPr>
                <a:ea typeface="Microsoft YaHei"/>
              </a:rPr>
              <a:t>官方权重也没有完全复现论文数值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同一个公开checkpoint，在本机上游评测流程下的结果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08760"/>
          <a:ext cx="11274552" cy="4434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5303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指标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论文完整模型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官方权重＋本机评测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</a:tr>
              <a:tr h="9761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PA-MPJPE ↓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5.5 mm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5.710 mm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9761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PA-MPVPE ↓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5.1 mm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5.273 mm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  <a:tr h="9761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F@5 ↑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0.825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0.8139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9761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F@15 ↑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0.993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0.9917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05332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这是正式3960张评测；不是本机自训练结果。差距原因尚未定位，不能认定完全复现。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7E87"/>
                </a:solidFill>
                <a:latin typeface="Microsoft YaHei"/>
              </a:defRPr>
            </a:pPr>
            <a:r>
              <a:rPr sz="1000">
                <a:latin typeface="Microsoft YaHei"/>
                <a:hlinkClick r:id="rId2"/>
              </a:rPr>
              <a:t>论文  </a:t>
            </a:r>
            <a:r>
              <a:rPr sz="1000">
                <a:latin typeface="Microsoft YaHei"/>
                <a:hlinkClick r:id="rId3"/>
              </a:rPr>
              <a:t>官方评分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07592"/>
            <a:ext cx="11247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007E87"/>
                </a:solidFill>
                <a:latin typeface="Microsoft YaHei"/>
              </a:defRPr>
            </a:pPr>
            <a:r>
              <a:t>历史复盘快照｜最新进展见第27–31页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7263D"/>
                </a:solidFill>
                <a:latin typeface="Microsoft YaHei"/>
              </a:defRPr>
            </a:pPr>
            <a:r>
              <a:rPr>
                <a:ea typeface="Microsoft YaHei"/>
              </a:rPr>
              <a:t>旧完整训练 vs 当前版本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网络主干基本相同，主要变化是训练行为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08760"/>
          <a:ext cx="11274552" cy="4434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5303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项目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旧完整训练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当前训练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总batch / 精度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24；FP16混合精度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1024；FP32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已完成或计划更新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旧100000 global steps；G实际49948次、D50000次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上限G/D各114000次，可早停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划分 / 采样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按tar切分；流式采样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按拍摄分组；有限epoch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loss缩放 / 先验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每卡8直接求和；独立mocap文件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参考128缩放；训练集内独立先验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内部验证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每1000个训练batch触发；只取1个验证batch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每轮完整验证＋best/last＋早停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05332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旧训练不是“一万步”；旧checkpoint确认RefineNet已有优化器状态，不是本次才加入。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7E87"/>
                </a:solidFill>
                <a:latin typeface="Microsoft YaHei"/>
              </a:defRPr>
            </a:pPr>
            <a:r>
              <a:rPr sz="1000">
                <a:latin typeface="Microsoft YaHei"/>
                <a:hlinkClick r:id="rId2"/>
              </a:rPr>
              <a:t>本机版本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07592"/>
            <a:ext cx="11247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007E87"/>
                </a:solidFill>
                <a:latin typeface="Microsoft YaHei"/>
              </a:defRPr>
            </a:pPr>
            <a:r>
              <a:t>历史复盘快照｜最新进展见第27–31页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7263D"/>
                </a:solidFill>
                <a:latin typeface="Microsoft YaHei"/>
              </a:defRPr>
            </a:pPr>
            <a:r>
              <a:rPr>
                <a:ea typeface="Microsoft YaHei"/>
              </a:rPr>
              <a:t>没有改变的核心部分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避免把中间试验分支误认为当前运行结构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08760"/>
          <a:ext cx="11274552" cy="4434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348472"/>
              </a:tblGrid>
              <a:tr h="5303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组件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旧完整训练与当前版本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</a:tr>
              <a:tr h="9761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网络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ViT → 初始MANO → 多尺度RefineNet → 最终MANO。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9761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tokens / 相机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16 pose + 1 shape + 1 camera；均值[4,0,0]；官方透视投影。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  <a:tr h="9761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loss / 优化器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官方关节、MANO参数、对抗loss；AdamW；RefineNet参与更新。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9761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旧试验分支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源码仍有单pose token、弱透视、顶点loss选项；当前配置不启用。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05332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当前NUM_POSE_TOKENS=16、PROJECTION=perspective、OFFICIAL_LOSSES=true。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7E87"/>
                </a:solidFill>
                <a:latin typeface="Microsoft YaHei"/>
              </a:defRPr>
            </a:pPr>
            <a:r>
              <a:rPr sz="1000">
                <a:latin typeface="Microsoft YaHei"/>
                <a:hlinkClick r:id="rId2"/>
              </a:rPr>
              <a:t>模型代码  </a:t>
            </a:r>
            <a:r>
              <a:rPr sz="1000">
                <a:latin typeface="Microsoft YaHei"/>
                <a:hlinkClick r:id="rId3"/>
              </a:rPr>
              <a:t>本机版本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07592"/>
            <a:ext cx="11247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007E87"/>
                </a:solidFill>
                <a:latin typeface="Microsoft YaHei"/>
              </a:defRPr>
            </a:pPr>
            <a:r>
              <a:t>历史复盘快照｜最新进展见第27–31页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7263D"/>
                </a:solidFill>
                <a:latin typeface="Microsoft YaHei"/>
              </a:defRPr>
            </a:pPr>
            <a:r>
              <a:rPr>
                <a:ea typeface="Microsoft YaHei"/>
              </a:rPr>
              <a:t>已观察到的前4轮结果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这是历史训练快照，不代表打开PPT时的实时进度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08760"/>
          <a:ext cx="11274550" cy="4434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910"/>
                <a:gridCol w="2254910"/>
                <a:gridCol w="2254910"/>
                <a:gridCol w="2254910"/>
                <a:gridCol w="2254910"/>
              </a:tblGrid>
              <a:tr h="5303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轮次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训练loss*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PA-MPJPE mm ↓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PA-MPVPE mm ↓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F@5 ↑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</a:tr>
              <a:tr h="9761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1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28.424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18.552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18.016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0.3158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9761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2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15.132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16.650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16.324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0.3341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  <a:tr h="9761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3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12.657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15.607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15.421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0.3424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9761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4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11.429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15.062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14.934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0.3502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05332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内部holdout；*训练loss为日志记录，未作为跨rank全局平均保证。仅4点不足以可靠预测收敛轮数。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7E87"/>
                </a:solidFill>
                <a:latin typeface="Microsoft YaHei"/>
              </a:defRPr>
            </a:pPr>
            <a:r>
              <a:rPr sz="1000">
                <a:latin typeface="Microsoft YaHei"/>
                <a:hlinkClick r:id="rId2"/>
              </a:rPr>
              <a:t>本机版本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07592"/>
            <a:ext cx="11247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007E87"/>
                </a:solidFill>
                <a:latin typeface="Microsoft YaHei"/>
              </a:defRPr>
            </a:pPr>
            <a:r>
              <a:t>历史复盘快照｜最新进展见第27–31页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7263D"/>
                </a:solidFill>
                <a:latin typeface="Microsoft YaHei"/>
              </a:defRPr>
            </a:pPr>
            <a:r>
              <a:rPr>
                <a:ea typeface="Microsoft YaHei"/>
              </a:rPr>
              <a:t>下一步：两组实验如何比较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第一组已启动；第二组尚未配置和启动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08760"/>
          <a:ext cx="11274552" cy="4434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5303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实验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数据与采样比例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比较要求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</a:tr>
              <a:tr h="9761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A：单数据集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FreiHAND 100%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当前2×B200训练，按内部验证选最佳。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9761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B：四数据集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FreiHAND 50%；InterHand2.6M 25%；MTC/RHD各12.5%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官方20:10:5:5归一化，保持4:2:1:1。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  <a:tr h="9761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共同评测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相同3960张FreiHAND正式评测入口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报告PA-MPJPE、PA-MPVPE、F@5、F@15。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9761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待确定控制变量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四数据集每轮长度、训练更新预算、采样实现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仅让两组epoch相同不代表计算量或样本曝光量相同。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05332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扩充数据集不能只改权重：还需确认标注转换、训练划分、先验和采样完整性。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7E87"/>
                </a:solidFill>
                <a:latin typeface="Microsoft YaHei"/>
              </a:defRPr>
            </a:pPr>
            <a:r>
              <a:rPr sz="1000">
                <a:latin typeface="Microsoft YaHei"/>
                <a:hlinkClick r:id="rId2"/>
              </a:rPr>
              <a:t>官方配置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07592"/>
            <a:ext cx="11247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007E87"/>
                </a:solidFill>
                <a:latin typeface="Microsoft YaHei"/>
              </a:defRPr>
            </a:pPr>
            <a:r>
              <a:t>历史复盘快照｜最新进展见第27–31页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7263D"/>
                </a:solidFill>
                <a:latin typeface="Microsoft YaHei"/>
              </a:defRPr>
            </a:pPr>
            <a:r>
              <a:rPr>
                <a:ea typeface="Microsoft YaHei"/>
              </a:rPr>
              <a:t>仍未解决的问题与已纠正的说法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后续复现报告需要保留这些限制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08760"/>
          <a:ext cx="11274552" cy="4434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348472"/>
              </a:tblGrid>
              <a:tr h="5303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事项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当前结论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作者真实batch组织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8卡、有效1024已确认；每卡batch与累积次数仍未知。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原始训练时长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1000 epochs已公开；原始epoch长度、最终更新次数未知。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camera均值来源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官方[4,0,0]可复用；统计过程未证实。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数据与benchmark细节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完整转换脚本、原始评测crop、最终checkpoint选择未知。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已纠正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采样权重其实已公开；旧完整训练已更新RefineNet；50–200轮预测缺少足够依据。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05332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不将“公开实现存在缺口”直接推断为“作者训练有同样缺陷”。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7E87"/>
                </a:solidFill>
                <a:latin typeface="Microsoft YaHei"/>
              </a:defRPr>
            </a:pPr>
            <a:r>
              <a:rPr sz="1000">
                <a:latin typeface="Microsoft YaHei"/>
                <a:hlinkClick r:id="rId2"/>
              </a:rPr>
              <a:t>论文  </a:t>
            </a:r>
            <a:r>
              <a:rPr sz="1000">
                <a:latin typeface="Microsoft YaHei"/>
                <a:hlinkClick r:id="rId3"/>
              </a:rPr>
              <a:t>官方配置  </a:t>
            </a:r>
            <a:r>
              <a:rPr sz="1000">
                <a:latin typeface="Microsoft YaHei"/>
                <a:hlinkClick r:id="rId4"/>
              </a:rPr>
              <a:t>作者batch回复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07592"/>
            <a:ext cx="11247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007E87"/>
                </a:solidFill>
                <a:latin typeface="Microsoft YaHei"/>
              </a:defRPr>
            </a:pPr>
            <a:r>
              <a:t>历史复盘快照｜最新进展见第27–31页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7263D"/>
                </a:solidFill>
                <a:latin typeface="Microsoft YaHei"/>
              </a:defRPr>
            </a:pPr>
            <a:r>
              <a:rPr>
                <a:ea typeface="Microsoft YaHei"/>
              </a:rPr>
              <a:t>交付与版本记录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代码来源、运行产物和复现限制应一起保留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08760"/>
          <a:ext cx="11274552" cy="4434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348472"/>
              </a:tblGrid>
              <a:tr h="5303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对象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位置 / 状态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已推送基线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branch: wilor-official-aligned-training；commit: 221f778。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后续本机改动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最佳checkpoint、早停、后台恢复脚本；尚未提交到GitHub。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训练目录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logs/train/runs/wilor_freihand_2gpu_20261015T035644Z/validation_selected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核验资料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reports/training_recipe_audit.json；official_component_alignment.json；camera_initialization_study/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说明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旧audit中的full_training_started=false及旧保存规则已过时；本PPT以随后实际运行和回调代码为准。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05332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本PPT总结已核验的会话结论；不改变后台训练。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7E87"/>
                </a:solidFill>
                <a:latin typeface="Microsoft YaHei"/>
              </a:defRPr>
            </a:pPr>
            <a:r>
              <a:rPr sz="1000">
                <a:latin typeface="Microsoft YaHei"/>
                <a:hlinkClick r:id="rId2"/>
              </a:rPr>
              <a:t>本机版本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07592"/>
            <a:ext cx="11247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007E87"/>
                </a:solidFill>
                <a:latin typeface="Microsoft YaHei"/>
              </a:defRPr>
            </a:pPr>
            <a:r>
              <a:t>历史复盘快照｜最新进展见第27–31页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7263D"/>
                </a:solidFill>
                <a:latin typeface="Microsoft YaHei"/>
              </a:defRPr>
            </a:pPr>
            <a:r>
              <a:rPr>
                <a:ea typeface="Microsoft YaHei"/>
              </a:rPr>
              <a:t>来源索引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页面底部来源名称可点击；完整链接也保存在讲者备注与sources.json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08760"/>
          <a:ext cx="11274552" cy="44348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348472"/>
              </a:tblGrid>
              <a:tr h="5303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来源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用途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</a:tr>
              <a:tr h="65074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论文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https://arxiv.org/html/2409.12259v2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65074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官方配置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https://github.com/rolpotamias/WiLoR/blob/fcb911312a38fa8badd30d9656a167485d61b8f9/pretrained_models/model_config.yaml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  <a:tr h="65074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模型代码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https://github.com/rolpotamias/WiLoR/blob/fcb911312a38fa8badd30d9656a167485d61b8f9/wilor/models/wilor.py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65074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ViT代码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https://github.com/rolpotamias/WiLoR/blob/fcb911312a38fa8badd30d9656a167485d61b8f9/wilor/models/backbones/vit.py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  <a:tr h="65074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RefineNet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https://github.com/rolpotamias/WiLoR/blob/fcb911312a38fa8badd30d9656a167485d61b8f9/wilor/models/heads/refinement_net.py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65074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损失代码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https://github.com/rolpotamias/WiLoR/blob/fcb911312a38fa8badd30d9656a167485d61b8f9/wilor/models/losses.py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05332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A"/>
                </a:solidFill>
                <a:latin typeface="Microsoft YaHei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7E87"/>
                </a:solidFill>
                <a:latin typeface="Microsoft YaHei"/>
              </a:defRPr>
            </a:pPr>
            <a:r>
              <a:rPr sz="1000">
                <a:latin typeface="Microsoft YaHei"/>
                <a:hlinkClick r:id="rId2"/>
              </a:rPr>
              <a:t>论文  </a:t>
            </a:r>
            <a:r>
              <a:rPr sz="1000">
                <a:latin typeface="Microsoft YaHei"/>
                <a:hlinkClick r:id="rId3"/>
              </a:rPr>
              <a:t>官方配置  </a:t>
            </a:r>
            <a:r>
              <a:rPr sz="1000">
                <a:latin typeface="Microsoft YaHei"/>
                <a:hlinkClick r:id="rId4"/>
              </a:rPr>
              <a:t>模型代码  </a:t>
            </a:r>
            <a:r>
              <a:rPr sz="1000">
                <a:latin typeface="Microsoft YaHei"/>
                <a:hlinkClick r:id="rId5"/>
              </a:rPr>
              <a:t>ViT代码  </a:t>
            </a:r>
            <a:r>
              <a:rPr sz="1000">
                <a:latin typeface="Microsoft YaHei"/>
                <a:hlinkClick r:id="rId6"/>
              </a:rPr>
              <a:t>RefineNet  </a:t>
            </a:r>
            <a:r>
              <a:rPr sz="1000">
                <a:latin typeface="Microsoft YaHei"/>
                <a:hlinkClick r:id="rId7"/>
              </a:rPr>
              <a:t>损失代码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07592"/>
            <a:ext cx="11247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007E87"/>
                </a:solidFill>
                <a:latin typeface="Microsoft YaHei"/>
              </a:defRPr>
            </a:pPr>
            <a:r>
              <a:t>历史复盘快照｜最新进展见第27–31页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7263D"/>
                </a:solidFill>
                <a:latin typeface="Microsoft YaHei"/>
              </a:defRPr>
            </a:pPr>
            <a:r>
              <a:rPr>
                <a:ea typeface="Microsoft YaHei"/>
              </a:rPr>
              <a:t>来源索引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页面底部来源名称可点击；完整链接也保存在讲者备注与sources.json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08760"/>
          <a:ext cx="11274552" cy="44348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348472"/>
              </a:tblGrid>
              <a:tr h="5303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来源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用途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</a:tr>
              <a:tr h="65074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作者batch回复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https://github.com/rolpotamias/WiLoR/issues/19#issuecomment-2888436633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65074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HaMeR下载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https://github.com/geopavlakos/hamer/blob/main/fetch_training_data.sh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  <a:tr h="65074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HaMeR相机追溯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https://github.com/geopavlakos/hamer/issues/41#issuecomment-2078067937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65074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官方评分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https://github.com/lmb-freiburg/freihand/tree/5ea4ab9763fea0eec988a52bfa563333cb16523f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  <a:tr h="65074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本机版本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https://github.com/choppa129/WiLoR/commit/221f778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65074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HaMeR评测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rPr>
                          <a:ea typeface="Microsoft YaHei"/>
                        </a:rPr>
                        <a:t>https://github.com/geopavlakos/hamer/blob/main/eval.py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05332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A"/>
                </a:solidFill>
                <a:latin typeface="Microsoft YaHei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7E87"/>
                </a:solidFill>
                <a:latin typeface="Microsoft YaHei"/>
              </a:defRPr>
            </a:pPr>
            <a:r>
              <a:rPr sz="1000">
                <a:latin typeface="Microsoft YaHei"/>
                <a:hlinkClick r:id="rId2"/>
              </a:rPr>
              <a:t>作者batch回复  </a:t>
            </a:r>
            <a:r>
              <a:rPr sz="1000">
                <a:latin typeface="Microsoft YaHei"/>
                <a:hlinkClick r:id="rId3"/>
              </a:rPr>
              <a:t>HaMeR下载  </a:t>
            </a:r>
            <a:r>
              <a:rPr sz="1000">
                <a:latin typeface="Microsoft YaHei"/>
                <a:hlinkClick r:id="rId4"/>
              </a:rPr>
              <a:t>HaMeR相机追溯  </a:t>
            </a:r>
            <a:r>
              <a:rPr sz="1000">
                <a:latin typeface="Microsoft YaHei"/>
                <a:hlinkClick r:id="rId5"/>
              </a:rPr>
              <a:t>官方评分  </a:t>
            </a:r>
            <a:r>
              <a:rPr sz="1000">
                <a:latin typeface="Microsoft YaHei"/>
                <a:hlinkClick r:id="rId6"/>
              </a:rPr>
              <a:t>本机版本  </a:t>
            </a:r>
            <a:r>
              <a:rPr sz="1000">
                <a:latin typeface="Microsoft YaHei"/>
                <a:hlinkClick r:id="rId7"/>
              </a:rPr>
              <a:t>HaMeR评测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2637A"/>
                </a:solidFill>
                <a:latin typeface="Microsoft YaHei"/>
              </a:defRPr>
            </a:pPr>
            <a:r>
              <a:rPr>
                <a:ea typeface="Microsoft YaHei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07592"/>
            <a:ext cx="11247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007E87"/>
                </a:solidFill>
                <a:latin typeface="Microsoft YaHei"/>
              </a:defRPr>
            </a:pPr>
            <a:r>
              <a:t>历史复盘快照｜最新进展见第27–31页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7263D"/>
                </a:solidFill>
                <a:latin typeface="Microsoft YaHei"/>
              </a:defRPr>
            </a:pPr>
            <a:r>
              <a:t>进度更新：单数据集结束，四数据集已开训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0">
                <a:solidFill>
                  <a:srgbClr val="52637A"/>
                </a:solidFill>
                <a:latin typeface="Microsoft YaHei"/>
              </a:defRPr>
            </a:pPr>
            <a:r>
              <a:t>本机实际运行记录｜更新于 2026-10-15 16:09 EDT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08760"/>
          <a:ext cx="11274552" cy="4434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8439912"/>
              </a:tblGrid>
              <a:tr h="530352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事项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截至 2026-10-15 16:09 EDT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实验 A：FreiHAND-only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已停止；保留第50轮checkpoint。训练集与验证集完整评测已完成。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数据准备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四个数据集均完成下载、解压、索引及读取检查。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实验 B：四数据集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已按用户最新指令在GPU 6、7启动；当前处于第1轮，无完整验证结果。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训练计划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每卡512，总batch 1024；50 epoch；关闭早停，保留best与last。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后台执行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独立后台进程持续运行；结束后自动评测完整训练集与固定验证集。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053328"/>
            <a:ext cx="112471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52637A"/>
                </a:solidFill>
                <a:latin typeface="Microsoft YaHei"/>
              </a:defRPr>
            </a:pPr>
            <a:r>
              <a:t>进度是本次核验快照，不会随训练实时更新；原有页面保留为历史复盘。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899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007E87"/>
                </a:solidFill>
                <a:latin typeface="Microsoft YaHei"/>
              </a:defRPr>
            </a:pPr>
            <a:r>
              <a:t>来源：本机checkpoint评测、dataset_manifest.json、launch.json及运行日志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52637A"/>
                </a:solidFill>
                <a:latin typeface="Microsoft YaHei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7263D"/>
                </a:solidFill>
                <a:latin typeface="Microsoft YaHei"/>
              </a:defRPr>
            </a:pPr>
            <a:r>
              <a:t>实验 A：第50轮完整评测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0">
                <a:solidFill>
                  <a:srgbClr val="52637A"/>
                </a:solidFill>
                <a:latin typeface="Microsoft YaHei"/>
              </a:defRPr>
            </a:pPr>
            <a:r>
              <a:t>本机实际运行记录｜更新于 2026-10-15 16:09 EDT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08760"/>
          <a:ext cx="11274552" cy="44348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530352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训练集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验证集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</a:tr>
              <a:tr h="650747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样本数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117,216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13,024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650747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平均监督 loss ↓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0.03269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0.03402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  <a:tr h="650747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PA-MPJPE ↓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8.02 mm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8.09 mm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650747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PA-MPVPE ↓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7.68 mm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7.77 mm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  <a:tr h="650747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F@5mm ↑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65.21%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64.82%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650747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F@15mm ↑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97.40%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97.29%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053328"/>
            <a:ext cx="112471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52637A"/>
                </a:solidFill>
                <a:latin typeface="Microsoft YaHei"/>
              </a:defRPr>
            </a:pPr>
            <a:r>
              <a:t>同一checkpoint，eval模式、关闭增强、FP32。loss为每样本监督项，不含对抗项；F-score不是分类accuracy。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899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007E87"/>
                </a:solidFill>
                <a:latin typeface="Microsoft YaHei"/>
              </a:defRPr>
            </a:pPr>
            <a:r>
              <a:t>来源：本机checkpoint评测、dataset_manifest.json、launch.json及运行日志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52637A"/>
                </a:solidFill>
                <a:latin typeface="Microsoft YaHei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7263D"/>
                </a:solidFill>
                <a:latin typeface="Microsoft YaHei"/>
              </a:defRPr>
            </a:pPr>
            <a:r>
              <a:t>实验 B：四数据集已经准备完成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0">
                <a:solidFill>
                  <a:srgbClr val="52637A"/>
                </a:solidFill>
                <a:latin typeface="Microsoft YaHei"/>
              </a:defRPr>
            </a:pPr>
            <a:r>
              <a:t>本机实际运行记录｜更新于 2026-10-15 16:09 EDT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08760"/>
          <a:ext cx="11274552" cy="4434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2834640"/>
                <a:gridCol w="1920240"/>
                <a:gridCol w="3044952"/>
              </a:tblGrid>
              <a:tr h="53035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数据集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可用训练记录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采样比例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完整tar分片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</a:tr>
              <a:tr h="976121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FreiHAND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117,216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50%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131 / 131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976121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InterHand2.6M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1,424,632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25%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1057 / 1057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  <a:tr h="976121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MTC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363,947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12.5%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307 / 307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976121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RHD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61,705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12.5%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42 / 42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053328"/>
            <a:ext cx="112471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52637A"/>
                </a:solidFill>
                <a:latin typeface="Microsoft YaHei"/>
              </a:defRPr>
            </a:pPr>
            <a:r>
              <a:t>官方20:10:5:5权重在所选四数据集内归一化。FreiHAND训练记录已排除固定10%分组留出集。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899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007E87"/>
                </a:solidFill>
                <a:latin typeface="Microsoft YaHei"/>
              </a:defRPr>
            </a:pPr>
            <a:r>
              <a:t>来源：本机checkpoint评测、dataset_manifest.json、launch.json及运行日志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52637A"/>
                </a:solidFill>
                <a:latin typeface="Microsoft YaHei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7263D"/>
                </a:solidFill>
                <a:latin typeface="Microsoft YaHei"/>
              </a:defRPr>
            </a:pPr>
            <a:r>
              <a:t>实验 B：当前正式运行配置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0">
                <a:solidFill>
                  <a:srgbClr val="52637A"/>
                </a:solidFill>
                <a:latin typeface="Microsoft YaHei"/>
              </a:defRPr>
            </a:pPr>
            <a:r>
              <a:t>本机实际运行记录｜更新于 2026-10-15 16:09 EDT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08760"/>
          <a:ext cx="11274552" cy="4434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8439912"/>
              </a:tblGrid>
              <a:tr h="530352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配置项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实际采用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设备 / batch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GPU 6、7；2 × 512 = 1024；无梯度累积；FP32。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初始化 / 优化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ViTPose-H预训练backbone；新建重建头；官方[4,0,0]均值；AdamW。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采样 / epoch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每轮233,472次抽样，228次生成器更新；数据集内有放回采样。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训练量 / 保存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50轮；关闭早停；每轮验证，保存验证最优checkpoint与last。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验证 / 最终评测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固定FreiHAND 13,024张留出集；结束后评测第50轮last：四个完整训练集＋该验证集。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053328"/>
            <a:ext cx="112471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52637A"/>
                </a:solidFill>
                <a:latin typeface="Microsoft YaHei"/>
              </a:defRPr>
            </a:pPr>
            <a:r>
              <a:t>自动评测随GPU数量改为两卡分片汇总；当前尚无实验B的验证指标或最终结果。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899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007E87"/>
                </a:solidFill>
                <a:latin typeface="Microsoft YaHei"/>
              </a:defRPr>
            </a:pPr>
            <a:r>
              <a:t>来源：本机checkpoint评测、dataset_manifest.json、launch.json及运行日志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52637A"/>
                </a:solidFill>
                <a:latin typeface="Microsoft YaHei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7263D"/>
                </a:solidFill>
                <a:latin typeface="Microsoft YaHei"/>
              </a:defRPr>
            </a:pPr>
            <a:r>
              <a:t>比较口径与下一次汇报内容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0">
                <a:solidFill>
                  <a:srgbClr val="52637A"/>
                </a:solidFill>
                <a:latin typeface="Microsoft YaHei"/>
              </a:defRPr>
            </a:pPr>
            <a:r>
              <a:t>本机实际运行记录｜更新于 2026-10-15 16:09 EDT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08760"/>
          <a:ext cx="11274552" cy="4434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8439912"/>
              </a:tblGrid>
              <a:tr h="530352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项目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marL="118872" marR="118872" marT="91440" marB="54864">
                    <a:solidFill>
                      <a:srgbClr val="007E87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更新预算不同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A每轮114次、50轮共5,700次G更新；B每轮228次、50轮共11,400次G更新。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FreiHAND曝光量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B每轮抽取116,736次FreiHAND，接近A每轮实际训练数量；有放回不等于遍历一遍。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有效标注不同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抽样：InterHand有MANO但3D关节置信度为0；MTC/RHD有3D关节但无MANO。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指标解释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按有效标注分别统计；缺失指标不填0。训练集分数据集汇报，另给按采样权重汇总的loss。</a:t>
                      </a:r>
                    </a:p>
                  </a:txBody>
                  <a:tcPr marL="118872" marR="118872" marT="91440" marB="54864">
                    <a:solidFill>
                      <a:srgbClr val="E8EEF5"/>
                    </a:solidFill>
                  </a:tcPr>
                </a:tc>
              </a:tr>
              <a:tr h="780897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下一次汇报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63D"/>
                          </a:solidFill>
                          <a:latin typeface="Microsoft YaHei"/>
                        </a:defRPr>
                      </a:pPr>
                      <a:r>
                        <a:t>第1轮耗时与验证指标；据实更新总时长。此前四卡18–22小时估算不适用于当前两卡。</a:t>
                      </a:r>
                    </a:p>
                  </a:txBody>
                  <a:tcPr marL="118872" marR="118872" marT="91440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053328"/>
            <a:ext cx="112471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52637A"/>
                </a:solidFill>
                <a:latin typeface="Microsoft YaHei"/>
              </a:defRPr>
            </a:pPr>
            <a:r>
              <a:t>当前验证集仍仅为FreiHAND；内部留出集结果不能直接与论文正式测试集数字对比。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899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007E87"/>
                </a:solidFill>
                <a:latin typeface="Microsoft YaHei"/>
              </a:defRPr>
            </a:pPr>
            <a:r>
              <a:t>来源：本机checkpoint评测、dataset_manifest.json、launch.json及运行日志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52637A"/>
                </a:solidFill>
                <a:latin typeface="Microsoft YaHei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