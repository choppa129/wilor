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15"/>
    <p:sldId id="256" r:id="rId2"/>
    <p:sldId id="263" r:id="rId16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7AA471-D1F9-4246-9F45-7BCBE082D7C3}" v="8" dt="2026-10-16T20:31:48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23" autoAdjust="0"/>
  </p:normalViewPr>
  <p:slideViewPr>
    <p:cSldViewPr snapToGrid="0" snapToObjects="1">
      <p:cViewPr varScale="1">
        <p:scale>
          <a:sx n="66" d="100"/>
          <a:sy n="66" d="100"/>
        </p:scale>
        <p:origin x="130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4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1.xml"/><Relationship Id="rId1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g, Xue" userId="cb9e0339-2a35-43e7-8740-807d03ac7dd5" providerId="ADAL" clId="{4042D26F-4528-4584-B51B-4CED43E6AE13}"/>
    <pc:docChg chg="undo custSel modSld">
      <pc:chgData name="Jiang, Xue" userId="cb9e0339-2a35-43e7-8740-807d03ac7dd5" providerId="ADAL" clId="{4042D26F-4528-4584-B51B-4CED43E6AE13}" dt="2026-10-16T20:34:19.225" v="545" actId="478"/>
      <pc:docMkLst>
        <pc:docMk/>
      </pc:docMkLst>
      <pc:sldChg chg="addSp delSp modSp mod modNotesTx">
        <pc:chgData name="Jiang, Xue" userId="cb9e0339-2a35-43e7-8740-807d03ac7dd5" providerId="ADAL" clId="{4042D26F-4528-4584-B51B-4CED43E6AE13}" dt="2026-10-16T20:32:41.782" v="540" actId="20577"/>
        <pc:sldMkLst>
          <pc:docMk/>
          <pc:sldMk cId="0" sldId="256"/>
        </pc:sldMkLst>
        <pc:spChg chg="mod">
          <ac:chgData name="Jiang, Xue" userId="cb9e0339-2a35-43e7-8740-807d03ac7dd5" providerId="ADAL" clId="{4042D26F-4528-4584-B51B-4CED43E6AE13}" dt="2026-10-16T20:27:10.542" v="22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8:02.270" v="282" actId="20577"/>
          <ac:spMkLst>
            <pc:docMk/>
            <pc:sldMk cId="0" sldId="256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9:02.186" v="328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2:14.014" v="11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7:21.937" v="234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32:41.782" v="540" actId="20577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Jiang, Xue" userId="cb9e0339-2a35-43e7-8740-807d03ac7dd5" providerId="ADAL" clId="{4042D26F-4528-4584-B51B-4CED43E6AE13}" dt="2026-10-16T20:31:38.336" v="46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30:16.237" v="459" actId="20577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Jiang, Xue" userId="cb9e0339-2a35-43e7-8740-807d03ac7dd5" providerId="ADAL" clId="{4042D26F-4528-4584-B51B-4CED43E6AE13}" dt="2026-10-16T20:31:50.638" v="469"/>
          <ac:spMkLst>
            <pc:docMk/>
            <pc:sldMk cId="0" sldId="256"/>
            <ac:spMk id="20" creationId="{5FA103FC-49FC-1F7F-C243-18496B7A43BB}"/>
          </ac:spMkLst>
        </pc:spChg>
      </pc:sldChg>
      <pc:sldChg chg="addSp delSp modSp mod modNotesTx">
        <pc:chgData name="Jiang, Xue" userId="cb9e0339-2a35-43e7-8740-807d03ac7dd5" providerId="ADAL" clId="{4042D26F-4528-4584-B51B-4CED43E6AE13}" dt="2026-10-16T20:23:30.834" v="151" actId="20577"/>
        <pc:sldMkLst>
          <pc:docMk/>
          <pc:sldMk cId="0" sldId="257"/>
        </pc:sldMkLst>
        <pc:spChg chg="mod">
          <ac:chgData name="Jiang, Xue" userId="cb9e0339-2a35-43e7-8740-807d03ac7dd5" providerId="ADAL" clId="{4042D26F-4528-4584-B51B-4CED43E6AE13}" dt="2026-10-16T20:23:30.834" v="151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2:59.750" v="131" actId="21"/>
          <ac:spMkLst>
            <pc:docMk/>
            <pc:sldMk cId="0" sldId="257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2:50.826" v="130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27.926" v="67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27.926" v="67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27.926" v="67" actId="478"/>
          <ac:spMkLst>
            <pc:docMk/>
            <pc:sldMk cId="0" sldId="257"/>
            <ac:spMk id="9" creationId="{00000000-0000-0000-0000-000000000000}"/>
          </ac:spMkLst>
        </pc:spChg>
        <pc:spChg chg="add">
          <ac:chgData name="Jiang, Xue" userId="cb9e0339-2a35-43e7-8740-807d03ac7dd5" providerId="ADAL" clId="{4042D26F-4528-4584-B51B-4CED43E6AE13}" dt="2026-10-16T20:21:28.478" v="68" actId="22"/>
          <ac:spMkLst>
            <pc:docMk/>
            <pc:sldMk cId="0" sldId="257"/>
            <ac:spMk id="51" creationId="{4A150D1F-1FC3-0783-65E5-1120FAEA32BC}"/>
          </ac:spMkLst>
        </pc:spChg>
        <pc:spChg chg="add">
          <ac:chgData name="Jiang, Xue" userId="cb9e0339-2a35-43e7-8740-807d03ac7dd5" providerId="ADAL" clId="{4042D26F-4528-4584-B51B-4CED43E6AE13}" dt="2026-10-16T20:21:28.478" v="68" actId="22"/>
          <ac:spMkLst>
            <pc:docMk/>
            <pc:sldMk cId="0" sldId="257"/>
            <ac:spMk id="53" creationId="{FFE506C2-82D6-3F0D-9684-3E8906D48E01}"/>
          </ac:spMkLst>
        </pc:spChg>
        <pc:spChg chg="add">
          <ac:chgData name="Jiang, Xue" userId="cb9e0339-2a35-43e7-8740-807d03ac7dd5" providerId="ADAL" clId="{4042D26F-4528-4584-B51B-4CED43E6AE13}" dt="2026-10-16T20:21:28.478" v="68" actId="22"/>
          <ac:spMkLst>
            <pc:docMk/>
            <pc:sldMk cId="0" sldId="257"/>
            <ac:spMk id="55" creationId="{212AE6B5-B35B-3C7D-C76F-AE22FCFF9BDF}"/>
          </ac:spMkLst>
        </pc:spChg>
        <pc:spChg chg="add del">
          <ac:chgData name="Jiang, Xue" userId="cb9e0339-2a35-43e7-8740-807d03ac7dd5" providerId="ADAL" clId="{4042D26F-4528-4584-B51B-4CED43E6AE13}" dt="2026-10-16T20:23:05.816" v="134" actId="22"/>
          <ac:spMkLst>
            <pc:docMk/>
            <pc:sldMk cId="0" sldId="257"/>
            <ac:spMk id="57" creationId="{1CCE3E49-CC45-0C08-7FEB-9A2FED7C7791}"/>
          </ac:spMkLst>
        </pc:spChg>
        <pc:spChg chg="add del mod">
          <ac:chgData name="Jiang, Xue" userId="cb9e0339-2a35-43e7-8740-807d03ac7dd5" providerId="ADAL" clId="{4042D26F-4528-4584-B51B-4CED43E6AE13}" dt="2026-10-16T20:23:12.366" v="137" actId="478"/>
          <ac:spMkLst>
            <pc:docMk/>
            <pc:sldMk cId="0" sldId="257"/>
            <ac:spMk id="59" creationId="{92670458-8B8E-F681-6B08-E44F3A4B725B}"/>
          </ac:spMkLst>
        </pc:spChg>
      </pc:sldChg>
      <pc:sldChg chg="delSp modSp mod">
        <pc:chgData name="Jiang, Xue" userId="cb9e0339-2a35-43e7-8740-807d03ac7dd5" providerId="ADAL" clId="{4042D26F-4528-4584-B51B-4CED43E6AE13}" dt="2026-10-16T20:23:56.014" v="158" actId="478"/>
        <pc:sldMkLst>
          <pc:docMk/>
          <pc:sldMk cId="0" sldId="258"/>
        </pc:sldMkLst>
        <pc:spChg chg="mod">
          <ac:chgData name="Jiang, Xue" userId="cb9e0339-2a35-43e7-8740-807d03ac7dd5" providerId="ADAL" clId="{4042D26F-4528-4584-B51B-4CED43E6AE13}" dt="2026-10-16T20:23:48.222" v="156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3:54.022" v="15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3:56.014" v="158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1:14.113" v="66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52.550" v="45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58.806" v="55" actId="20577"/>
          <ac:spMkLst>
            <pc:docMk/>
            <pc:sldMk cId="0" sldId="258"/>
            <ac:spMk id="9" creationId="{00000000-0000-0000-0000-000000000000}"/>
          </ac:spMkLst>
        </pc:spChg>
      </pc:sldChg>
      <pc:sldChg chg="delSp modSp mod">
        <pc:chgData name="Jiang, Xue" userId="cb9e0339-2a35-43e7-8740-807d03ac7dd5" providerId="ADAL" clId="{4042D26F-4528-4584-B51B-4CED43E6AE13}" dt="2026-10-16T20:33:32.253" v="543" actId="20577"/>
        <pc:sldMkLst>
          <pc:docMk/>
          <pc:sldMk cId="0" sldId="259"/>
        </pc:sldMkLst>
        <pc:spChg chg="mod">
          <ac:chgData name="Jiang, Xue" userId="cb9e0339-2a35-43e7-8740-807d03ac7dd5" providerId="ADAL" clId="{4042D26F-4528-4584-B51B-4CED43E6AE13}" dt="2026-10-16T20:33:32.253" v="543" actId="2057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Jiang, Xue" userId="cb9e0339-2a35-43e7-8740-807d03ac7dd5" providerId="ADAL" clId="{4042D26F-4528-4584-B51B-4CED43E6AE13}" dt="2026-10-16T20:24:49.604" v="219"/>
          <ac:spMkLst>
            <pc:docMk/>
            <pc:sldMk cId="0" sldId="259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4:54.466" v="220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18.990" v="12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27.386" v="24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Jiang, Xue" userId="cb9e0339-2a35-43e7-8740-807d03ac7dd5" providerId="ADAL" clId="{4042D26F-4528-4584-B51B-4CED43E6AE13}" dt="2026-10-16T20:20:35.763" v="37" actId="20577"/>
          <ac:spMkLst>
            <pc:docMk/>
            <pc:sldMk cId="0" sldId="259"/>
            <ac:spMk id="9" creationId="{00000000-0000-0000-0000-000000000000}"/>
          </ac:spMkLst>
        </pc:spChg>
      </pc:sldChg>
      <pc:sldChg chg="addSp delSp modSp mod">
        <pc:chgData name="Jiang, Xue" userId="cb9e0339-2a35-43e7-8740-807d03ac7dd5" providerId="ADAL" clId="{4042D26F-4528-4584-B51B-4CED43E6AE13}" dt="2026-10-16T20:34:19.225" v="545" actId="478"/>
        <pc:sldMkLst>
          <pc:docMk/>
          <pc:sldMk cId="0" sldId="260"/>
        </pc:sldMkLst>
        <pc:spChg chg="mod">
          <ac:chgData name="Jiang, Xue" userId="cb9e0339-2a35-43e7-8740-807d03ac7dd5" providerId="ADAL" clId="{4042D26F-4528-4584-B51B-4CED43E6AE13}" dt="2026-10-16T20:21:55.905" v="100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33:46.770" v="544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34:19.225" v="545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32.969" v="69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32.969" v="6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Jiang, Xue" userId="cb9e0339-2a35-43e7-8740-807d03ac7dd5" providerId="ADAL" clId="{4042D26F-4528-4584-B51B-4CED43E6AE13}" dt="2026-10-16T20:21:32.969" v="69" actId="478"/>
          <ac:spMkLst>
            <pc:docMk/>
            <pc:sldMk cId="0" sldId="260"/>
            <ac:spMk id="9" creationId="{00000000-0000-0000-0000-000000000000}"/>
          </ac:spMkLst>
        </pc:spChg>
        <pc:spChg chg="add">
          <ac:chgData name="Jiang, Xue" userId="cb9e0339-2a35-43e7-8740-807d03ac7dd5" providerId="ADAL" clId="{4042D26F-4528-4584-B51B-4CED43E6AE13}" dt="2026-10-16T20:21:33.586" v="70" actId="22"/>
          <ac:spMkLst>
            <pc:docMk/>
            <pc:sldMk cId="0" sldId="260"/>
            <ac:spMk id="43" creationId="{D6BD8D68-D819-2A8B-3442-5018D38DE49B}"/>
          </ac:spMkLst>
        </pc:spChg>
        <pc:spChg chg="add">
          <ac:chgData name="Jiang, Xue" userId="cb9e0339-2a35-43e7-8740-807d03ac7dd5" providerId="ADAL" clId="{4042D26F-4528-4584-B51B-4CED43E6AE13}" dt="2026-10-16T20:21:33.586" v="70" actId="22"/>
          <ac:spMkLst>
            <pc:docMk/>
            <pc:sldMk cId="0" sldId="260"/>
            <ac:spMk id="45" creationId="{F396A9A3-8C22-DD9C-4229-7C60B1AD7723}"/>
          </ac:spMkLst>
        </pc:spChg>
        <pc:spChg chg="add">
          <ac:chgData name="Jiang, Xue" userId="cb9e0339-2a35-43e7-8740-807d03ac7dd5" providerId="ADAL" clId="{4042D26F-4528-4584-B51B-4CED43E6AE13}" dt="2026-10-16T20:21:33.586" v="70" actId="22"/>
          <ac:spMkLst>
            <pc:docMk/>
            <pc:sldMk cId="0" sldId="260"/>
            <ac:spMk id="47" creationId="{A8BF6A9F-BE73-109C-F7A0-CA3C40D413E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06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Mean 2D Joint Reprojection Error (</a:t>
            </a:r>
            <a:r>
              <a:rPr lang="en-US" dirty="0" err="1"/>
              <a:t>px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We project the predicted and reference 3D hand joints into the image, then calculate the Euclidean distance between corresponding joints. We average these distances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不是检测准确率；指标为21关节平均原图投影误差，参考为拟合MANO。验证集曾用于选模，不是新独立测试结论。训练/</a:t>
            </a:r>
            <a:r>
              <a:rPr dirty="0" err="1"/>
              <a:t>验证按完整录像划分。检测同手性+IoU</a:t>
            </a:r>
            <a:r>
              <a:rPr dirty="0"/>
              <a:t>&gt;=0.3。两模型输入一致，1.25倍正方形，无额外宽高比扩张。来源：evaluation/</a:t>
            </a:r>
            <a:r>
              <a:rPr dirty="0" err="1"/>
              <a:t>hand_display_unified_crop</a:t>
            </a:r>
            <a:r>
              <a:rPr dirty="0"/>
              <a:t>/per_sample.csv。</a:t>
            </a:r>
            <a:br>
              <a:rPr lang="en-US" dirty="0"/>
            </a:br>
            <a:r>
              <a:rPr lang="zh-CN" altLang="en-US" dirty="0"/>
              <a:t>辅助指标｜手腕对齐后的 </a:t>
            </a:r>
            <a:r>
              <a:rPr lang="en-US" altLang="zh-CN" dirty="0"/>
              <a:t>3D </a:t>
            </a:r>
            <a:r>
              <a:rPr lang="zh-CN" altLang="en-US" dirty="0"/>
              <a:t>关节误差：</a:t>
            </a:r>
            <a:r>
              <a:rPr lang="en-US" altLang="zh-CN" dirty="0"/>
              <a:t>20.1 → 9.8 mm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验证集 </a:t>
            </a:r>
            <a:r>
              <a:rPr lang="en-US" altLang="zh-CN" dirty="0"/>
              <a:t>· </a:t>
            </a:r>
            <a:r>
              <a:rPr lang="zh-CN" altLang="en-US" dirty="0"/>
              <a:t>统一检测框紧裁剪 </a:t>
            </a:r>
            <a:r>
              <a:rPr lang="en-US" altLang="zh-CN" dirty="0"/>
              <a:t>· </a:t>
            </a:r>
            <a:r>
              <a:rPr lang="zh-CN" altLang="en-US" dirty="0"/>
              <a:t>误差以数据集 </a:t>
            </a:r>
            <a:r>
              <a:rPr lang="en-US" altLang="zh-CN" dirty="0"/>
              <a:t>MANO </a:t>
            </a:r>
            <a:r>
              <a:rPr lang="zh-CN" altLang="en-US" dirty="0"/>
              <a:t>拟合标注为参考；图片不显示标注骨架</a:t>
            </a:r>
            <a:br>
              <a:rPr lang="en-US" altLang="zh-CN" dirty="0"/>
            </a:br>
            <a:r>
              <a:rPr lang="zh-CN" altLang="en-US" dirty="0"/>
              <a:t>从有效验证样本中随机抽取 </a:t>
            </a:r>
            <a:r>
              <a:rPr lang="en-US" altLang="zh-CN" dirty="0"/>
              <a:t>10 </a:t>
            </a:r>
            <a:r>
              <a:rPr lang="zh-CN" altLang="en-US" dirty="0"/>
              <a:t>个，不按结果挑选；固定随机种子 </a:t>
            </a:r>
            <a:r>
              <a:rPr lang="en-US" altLang="zh-CN" dirty="0"/>
              <a:t>42</a:t>
            </a:r>
            <a:r>
              <a:rPr lang="zh-CN" altLang="en-US" dirty="0"/>
              <a:t>。数字为对应手的二维误差，越低越好。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r>
              <a:rPr dirty="0"/>
              <a:t>{</a:t>
            </a:r>
          </a:p>
          <a:p>
            <a:r>
              <a:rPr dirty="0"/>
              <a:t>  "group": "random",</a:t>
            </a:r>
          </a:p>
          <a:p>
            <a:r>
              <a:rPr dirty="0"/>
              <a:t>  "</a:t>
            </a:r>
            <a:r>
              <a:rPr dirty="0" err="1"/>
              <a:t>sample_indices</a:t>
            </a:r>
            <a:r>
              <a:rPr dirty="0"/>
              <a:t>": [</a:t>
            </a:r>
          </a:p>
          <a:p>
            <a:r>
              <a:rPr dirty="0"/>
              <a:t>    41,</a:t>
            </a:r>
          </a:p>
          <a:p>
            <a:r>
              <a:rPr dirty="0"/>
              <a:t>    298,</a:t>
            </a:r>
          </a:p>
          <a:p>
            <a:r>
              <a:rPr dirty="0"/>
              <a:t>    42,</a:t>
            </a:r>
          </a:p>
          <a:p>
            <a:r>
              <a:rPr dirty="0"/>
              <a:t>    258,</a:t>
            </a:r>
          </a:p>
          <a:p>
            <a:r>
              <a:rPr dirty="0"/>
              <a:t>    181</a:t>
            </a:r>
          </a:p>
          <a:p>
            <a:r>
              <a:rPr dirty="0"/>
              <a:t>  ],</a:t>
            </a:r>
          </a:p>
          <a:p>
            <a:r>
              <a:rPr dirty="0"/>
              <a:t>  "</a:t>
            </a:r>
            <a:r>
              <a:rPr dirty="0" err="1"/>
              <a:t>sample_mean_px</a:t>
            </a:r>
            <a:r>
              <a:rPr dirty="0"/>
              <a:t>": {</a:t>
            </a:r>
          </a:p>
          <a:p>
            <a:r>
              <a:rPr dirty="0"/>
              <a:t>    "official": 76.19261620929981,</a:t>
            </a:r>
          </a:p>
          <a:p>
            <a:r>
              <a:rPr dirty="0"/>
              <a:t>    "finetuned": 29.922698204236134</a:t>
            </a:r>
          </a:p>
          <a:p>
            <a:r>
              <a:rPr dirty="0"/>
              <a:t>  },</a:t>
            </a:r>
          </a:p>
          <a:p>
            <a:r>
              <a:rPr dirty="0"/>
              <a:t>  "display": "All three panels use identical hand-region crop for display; input inference used detected boxes. Source reference overlays excluded.",</a:t>
            </a:r>
          </a:p>
          <a:p>
            <a:r>
              <a:rPr dirty="0"/>
              <a:t>  "selection": "Uniform over 351 matched validation hand samples, without replacement; no selection by outcome."</a:t>
            </a:r>
          </a:p>
          <a:p>
            <a:r>
              <a:rPr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"group": "random",</a:t>
            </a:r>
          </a:p>
          <a:p>
            <a:r>
              <a:t>  "sample_indices": [</a:t>
            </a:r>
          </a:p>
          <a:p>
            <a:r>
              <a:t>    178,</a:t>
            </a:r>
          </a:p>
          <a:p>
            <a:r>
              <a:t>    276,</a:t>
            </a:r>
          </a:p>
          <a:p>
            <a:r>
              <a:t>    45,</a:t>
            </a:r>
          </a:p>
          <a:p>
            <a:r>
              <a:t>    94,</a:t>
            </a:r>
          </a:p>
          <a:p>
            <a:r>
              <a:t>    330</a:t>
            </a:r>
          </a:p>
          <a:p>
            <a:r>
              <a:t>  ],</a:t>
            </a:r>
          </a:p>
          <a:p>
            <a:r>
              <a:t>  "sample_mean_px": {</a:t>
            </a:r>
          </a:p>
          <a:p>
            <a:r>
              <a:t>    "official": 42.37943626861882,</a:t>
            </a:r>
          </a:p>
          <a:p>
            <a:r>
              <a:t>    "finetuned": 29.344938689380843</a:t>
            </a:r>
          </a:p>
          <a:p>
            <a:r>
              <a:t>  },</a:t>
            </a:r>
          </a:p>
          <a:p>
            <a:r>
              <a:t>  "display": "All three panels use identical hand-region crop for display; input inference used detected boxes. Source reference overlays excluded.",</a:t>
            </a:r>
          </a:p>
          <a:p>
            <a:r>
              <a:t>  "selection": "Uniform over 351 matched validation hand samples, without replacement; no selection by outcome."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按官方二维误差降序，选取 </a:t>
            </a:r>
            <a:r>
              <a:rPr lang="en-US" altLang="zh-CN" dirty="0"/>
              <a:t>4 </a:t>
            </a:r>
            <a:r>
              <a:rPr lang="zh-CN" altLang="en-US" dirty="0"/>
              <a:t>个不同时间点展示（同录像间隔至少 </a:t>
            </a:r>
            <a:r>
              <a:rPr lang="en-US" altLang="zh-CN" dirty="0"/>
              <a:t>1 </a:t>
            </a:r>
            <a:r>
              <a:rPr lang="zh-CN" altLang="en-US" dirty="0"/>
              <a:t>秒），避免相邻帧重复。</a:t>
            </a:r>
          </a:p>
          <a:p>
            <a:r>
              <a:rPr dirty="0"/>
              <a:t>{</a:t>
            </a:r>
          </a:p>
          <a:p>
            <a:r>
              <a:rPr dirty="0"/>
              <a:t>  "group": "</a:t>
            </a:r>
            <a:r>
              <a:rPr dirty="0" err="1"/>
              <a:t>official_worst</a:t>
            </a:r>
            <a:r>
              <a:rPr dirty="0"/>
              <a:t>",</a:t>
            </a:r>
          </a:p>
          <a:p>
            <a:r>
              <a:rPr dirty="0"/>
              <a:t>  "</a:t>
            </a:r>
            <a:r>
              <a:rPr dirty="0" err="1"/>
              <a:t>sample_indices</a:t>
            </a:r>
            <a:r>
              <a:rPr dirty="0"/>
              <a:t>": [</a:t>
            </a:r>
          </a:p>
          <a:p>
            <a:r>
              <a:rPr dirty="0"/>
              <a:t>    41,</a:t>
            </a:r>
          </a:p>
          <a:p>
            <a:r>
              <a:rPr dirty="0"/>
              <a:t>    287,</a:t>
            </a:r>
          </a:p>
          <a:p>
            <a:r>
              <a:rPr dirty="0"/>
              <a:t>    123,</a:t>
            </a:r>
          </a:p>
          <a:p>
            <a:r>
              <a:rPr dirty="0"/>
              <a:t>    191</a:t>
            </a:r>
          </a:p>
          <a:p>
            <a:r>
              <a:rPr dirty="0"/>
              <a:t>  ],</a:t>
            </a:r>
          </a:p>
          <a:p>
            <a:r>
              <a:rPr dirty="0"/>
              <a:t>  "</a:t>
            </a:r>
            <a:r>
              <a:rPr dirty="0" err="1"/>
              <a:t>sample_mean_px</a:t>
            </a:r>
            <a:r>
              <a:rPr dirty="0"/>
              <a:t>": {</a:t>
            </a:r>
          </a:p>
          <a:p>
            <a:r>
              <a:rPr dirty="0"/>
              <a:t>    "official": 127.75550131280298,</a:t>
            </a:r>
          </a:p>
          <a:p>
            <a:r>
              <a:rPr dirty="0"/>
              <a:t>    "finetuned": 37.01491714876549</a:t>
            </a:r>
          </a:p>
          <a:p>
            <a:r>
              <a:rPr dirty="0"/>
              <a:t>  },</a:t>
            </a:r>
          </a:p>
          <a:p>
            <a:r>
              <a:rPr dirty="0"/>
              <a:t>  "display": "All three panels use identical hand-region crop for display; input inference used detected boxes. Source reference overlays excluded.",</a:t>
            </a:r>
          </a:p>
          <a:p>
            <a:r>
              <a:rPr dirty="0"/>
              <a:t>  "selection": "Rank by original-image 2D error; greedily choose 4 examples at least 30 source frames apart within each session, to avoid adjacent duplicates."</a:t>
            </a:r>
          </a:p>
          <a:p>
            <a:r>
              <a:rPr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"group": "finetuned_worst",</a:t>
            </a:r>
          </a:p>
          <a:p>
            <a:r>
              <a:t>  "sample_indices": [</a:t>
            </a:r>
          </a:p>
          <a:p>
            <a:r>
              <a:t>    268,</a:t>
            </a:r>
          </a:p>
          <a:p>
            <a:r>
              <a:t>    212,</a:t>
            </a:r>
          </a:p>
          <a:p>
            <a:r>
              <a:t>    226,</a:t>
            </a:r>
          </a:p>
          <a:p>
            <a:r>
              <a:t>    236</a:t>
            </a:r>
          </a:p>
          <a:p>
            <a:r>
              <a:t>  ],</a:t>
            </a:r>
          </a:p>
          <a:p>
            <a:r>
              <a:t>  "sample_mean_px": {</a:t>
            </a:r>
          </a:p>
          <a:p>
            <a:r>
              <a:t>    "official": 84.63165664367004,</a:t>
            </a:r>
          </a:p>
          <a:p>
            <a:r>
              <a:t>    "finetuned": 77.0996337194388</a:t>
            </a:r>
          </a:p>
          <a:p>
            <a:r>
              <a:t>  },</a:t>
            </a:r>
          </a:p>
          <a:p>
            <a:r>
              <a:t>  "display": "All three panels use identical hand-region crop for display; input inference used detected boxes. Source reference overlays excluded.",</a:t>
            </a:r>
          </a:p>
          <a:p>
            <a:r>
              <a:t>  "selection": "Rank by original-image 2D error; greedily choose 4 examples at least 30 source frames apart within each session, to avoid adjacent duplicates."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合并旧结论版中的下一步计划，并将裁剪统一更新为已完成。其余旧裁剪诊断留在实验记录，不放入面向观众的汇报。第二轮微调尚未启动。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14.jpg"/><Relationship Id="rId17" Type="http://schemas.openxmlformats.org/officeDocument/2006/relationships/image" Target="../media/image15.jpg"/><Relationship Id="rId18" Type="http://schemas.openxmlformats.org/officeDocument/2006/relationships/image" Target="../media/image53.jpg"/><Relationship Id="rId19" Type="http://schemas.openxmlformats.org/officeDocument/2006/relationships/image" Target="../media/image54.jpg"/><Relationship Id="rId20" Type="http://schemas.openxmlformats.org/officeDocument/2006/relationships/image" Target="../media/image55.jpg"/><Relationship Id="rId21" Type="http://schemas.openxmlformats.org/officeDocument/2006/relationships/image" Target="../media/image56.jpg"/><Relationship Id="rId22" Type="http://schemas.openxmlformats.org/officeDocument/2006/relationships/image" Target="../media/image5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Relationship Id="rId12" Type="http://schemas.openxmlformats.org/officeDocument/2006/relationships/image" Target="../media/image25.jpg"/><Relationship Id="rId13" Type="http://schemas.openxmlformats.org/officeDocument/2006/relationships/image" Target="../media/image26.jpg"/><Relationship Id="rId14" Type="http://schemas.openxmlformats.org/officeDocument/2006/relationships/image" Target="../media/image27.jpg"/><Relationship Id="rId15" Type="http://schemas.openxmlformats.org/officeDocument/2006/relationships/image" Target="../media/image28.jpg"/><Relationship Id="rId16" Type="http://schemas.openxmlformats.org/officeDocument/2006/relationships/image" Target="../media/image29.jpg"/><Relationship Id="rId17" Type="http://schemas.openxmlformats.org/officeDocument/2006/relationships/image" Target="../media/image30.jpg"/><Relationship Id="rId18" Type="http://schemas.openxmlformats.org/officeDocument/2006/relationships/image" Target="../media/image58.jpg"/><Relationship Id="rId19" Type="http://schemas.openxmlformats.org/officeDocument/2006/relationships/image" Target="../media/image59.jpg"/><Relationship Id="rId20" Type="http://schemas.openxmlformats.org/officeDocument/2006/relationships/image" Target="../media/image60.jpg"/><Relationship Id="rId21" Type="http://schemas.openxmlformats.org/officeDocument/2006/relationships/image" Target="../media/image61.jpg"/><Relationship Id="rId22" Type="http://schemas.openxmlformats.org/officeDocument/2006/relationships/image" Target="../media/image6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8.jpg"/><Relationship Id="rId14" Type="http://schemas.openxmlformats.org/officeDocument/2006/relationships/image" Target="../media/image39.jpg"/><Relationship Id="rId15" Type="http://schemas.openxmlformats.org/officeDocument/2006/relationships/image" Target="../media/image53.jpg"/><Relationship Id="rId16" Type="http://schemas.openxmlformats.org/officeDocument/2006/relationships/image" Target="../media/image63.jpg"/><Relationship Id="rId17" Type="http://schemas.openxmlformats.org/officeDocument/2006/relationships/image" Target="../media/image64.jpg"/><Relationship Id="rId18" Type="http://schemas.openxmlformats.org/officeDocument/2006/relationships/image" Target="../media/image6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49.jpg"/><Relationship Id="rId13" Type="http://schemas.openxmlformats.org/officeDocument/2006/relationships/image" Target="../media/image50.jpg"/><Relationship Id="rId14" Type="http://schemas.openxmlformats.org/officeDocument/2006/relationships/image" Target="../media/image51.jpg"/><Relationship Id="rId15" Type="http://schemas.openxmlformats.org/officeDocument/2006/relationships/image" Target="../media/image66.jpg"/><Relationship Id="rId16" Type="http://schemas.openxmlformats.org/officeDocument/2006/relationships/image" Target="../media/image67.jpg"/><Relationship Id="rId17" Type="http://schemas.openxmlformats.org/officeDocument/2006/relationships/image" Target="../media/image68.jpg"/><Relationship Id="rId18" Type="http://schemas.openxmlformats.org/officeDocument/2006/relationships/image" Target="../media/image6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83F"/>
                </a:solidFill>
                <a:latin typeface="Arial"/>
              </a:defRPr>
            </a:pPr>
            <a:r>
              <a:t>Fine-tuning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478"/>
                </a:solidFill>
                <a:latin typeface="Arial"/>
              </a:defRPr>
            </a:pPr>
            <a:r>
              <a:t>Start from the official WiLoR checkpoint; adapt to Gaussian Hand Display glove videos.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13248" cy="33832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029200" cy="4114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Data and training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5029200" cy="24688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12 videos, split by recording: 8 train / 2 val / 2 test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Hand samples: 1,672 train / 384 val / 517 test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Batch size: 16 total; one GPU (GPU 5)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10 epochs / 1,050 optimizer updates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Selected: epoch 9 / step 945, by validation MPJPE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413248" cy="33832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5029200" cy="4114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What we updated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5029200" cy="24688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Trainable: backbone + RefineNet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Learning rates: backbone 1e-6; RefineNet 1e-5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AdamW; weight decay 1e-4; gradient clip 1.0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Supervised losses only; discriminator frozen</a:t>
            </a:r>
          </a:p>
          <a:p>
            <a:pPr>
              <a:spcAft>
                <a:spcPts val="700"/>
              </a:spcAft>
              <a:defRPr sz="1700" b="0">
                <a:solidFill>
                  <a:srgbClr val="14283F"/>
                </a:solidFill>
                <a:latin typeface="Arial"/>
              </a:defRPr>
            </a:pPr>
            <a:r>
              <a:t>Left-hand shape (betas) supervision disabled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26478"/>
                </a:solidFill>
                <a:latin typeface="Arial"/>
              </a:defRPr>
            </a:pPr>
            <a:r>
              <a:t>Augmentation: scale 0.15, rotation 15°, color 0.10; no random horizontal flip.</a:t>
            </a:r>
          </a:p>
          <a:p>
            <a:pPr>
              <a:spcAft>
                <a:spcPts val="700"/>
              </a:spcAft>
              <a:defRPr sz="1700" b="0">
                <a:solidFill>
                  <a:srgbClr val="526478"/>
                </a:solidFill>
                <a:latin typeface="Arial"/>
              </a:defRPr>
            </a:pPr>
            <a:r>
              <a:t>DropPath 0.10; FP32; no gradient accumulation.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172200"/>
            <a:ext cx="10972800" cy="3200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478"/>
                </a:solidFill>
                <a:latin typeface="Arial"/>
              </a:defRPr>
            </a:pPr>
            <a:r>
              <a:t>Crop geometry: square box ×1.25 → 256×256. Formal fine-tuning restarted from official weights after the smoke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sz="2800" b="1" dirty="0">
                <a:solidFill>
                  <a:srgbClr val="14283F"/>
                </a:solidFill>
                <a:latin typeface="Microsoft YaHei"/>
              </a:rPr>
              <a:t>Mean 2D Joint Reprojection Error (</a:t>
            </a:r>
            <a:r>
              <a:rPr lang="en-US" sz="2800" b="1" dirty="0" err="1">
                <a:solidFill>
                  <a:srgbClr val="14283F"/>
                </a:solidFill>
                <a:latin typeface="Microsoft YaHei"/>
              </a:rPr>
              <a:t>px</a:t>
            </a:r>
            <a:r>
              <a:rPr lang="en-US" sz="2800" b="1" dirty="0">
                <a:solidFill>
                  <a:srgbClr val="14283F"/>
                </a:solidFill>
                <a:latin typeface="Microsoft YaHei"/>
              </a:rPr>
              <a:t>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77824"/>
            <a:ext cx="112471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rPr lang="en-US" dirty="0"/>
              <a:t>Fine-tuned with “</a:t>
            </a:r>
            <a:r>
              <a:rPr dirty="0"/>
              <a:t>Gaussian Hand Display</a:t>
            </a:r>
            <a:r>
              <a:rPr lang="en-US" dirty="0"/>
              <a:t>“, on same validation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337560" cy="1874519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971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DB7D29"/>
                </a:solidFill>
                <a:latin typeface="Microsoft YaHei"/>
              </a:defRPr>
            </a:pPr>
            <a:r>
              <a:rPr lang="en-US" dirty="0"/>
              <a:t>Official</a:t>
            </a:r>
            <a:r>
              <a:rPr dirty="0"/>
              <a:t> </a:t>
            </a:r>
            <a:r>
              <a:rPr dirty="0" err="1"/>
              <a:t>WiLoR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2615184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3900" b="1">
                <a:solidFill>
                  <a:srgbClr val="DB7D29"/>
                </a:solidFill>
                <a:latin typeface="Microsoft YaHei"/>
              </a:defRPr>
            </a:pPr>
            <a:r>
              <a:t>35.3 px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3337560" cy="1874519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99339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18BC4"/>
                </a:solidFill>
                <a:latin typeface="Microsoft YaHei"/>
              </a:defRPr>
            </a:pPr>
            <a:r>
              <a:t>Fine-tuned WiLoR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15184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3900" b="1">
                <a:solidFill>
                  <a:srgbClr val="218BC4"/>
                </a:solidFill>
                <a:latin typeface="Microsoft YaHei"/>
              </a:defRPr>
            </a:pPr>
            <a:r>
              <a:t>26.4 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783080"/>
            <a:ext cx="3337560" cy="1874519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993392"/>
            <a:ext cx="2971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007F86"/>
                </a:solidFill>
                <a:latin typeface="Microsoft YaHei"/>
              </a:defRPr>
            </a:pPr>
            <a:r>
              <a:rPr lang="en-US" dirty="0"/>
              <a:t>Decrease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458200" y="2615184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3900" b="1">
                <a:solidFill>
                  <a:srgbClr val="007F86"/>
                </a:solidFill>
                <a:latin typeface="Microsoft YaHei"/>
              </a:defRPr>
            </a:pPr>
            <a:r>
              <a:t>25.1%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1097280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007F86"/>
                </a:solidFill>
                <a:latin typeface="Microsoft YaHei"/>
              </a:defRPr>
            </a:pPr>
            <a:r>
              <a:rPr lang="en-US" dirty="0"/>
              <a:t>Fine-tuning-&gt;better Average, but still has degression and failure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" y="5532120"/>
            <a:ext cx="10972800" cy="500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rPr lang="en-US" dirty="0"/>
              <a:t>Data</a:t>
            </a:r>
            <a:r>
              <a:rPr dirty="0"/>
              <a:t>：1,672</a:t>
            </a:r>
            <a:r>
              <a:rPr lang="en-US" dirty="0"/>
              <a:t> samples, 10 epoch, choose 9</a:t>
            </a:r>
            <a:r>
              <a:rPr lang="en-US" baseline="30000" dirty="0"/>
              <a:t>th</a:t>
            </a:r>
            <a:r>
              <a:rPr lang="en-US" dirty="0"/>
              <a:t> epoch</a:t>
            </a:r>
          </a:p>
          <a:p>
            <a:pPr>
              <a:spcAft>
                <a:spcPts val="300"/>
              </a:spcAft>
              <a:defRPr sz="1500" b="0">
                <a:solidFill>
                  <a:srgbClr val="526478"/>
                </a:solidFill>
                <a:latin typeface="Microsoft YaHei"/>
              </a:defRPr>
            </a:pPr>
            <a:r>
              <a:rPr lang="en-US" dirty="0"/>
              <a:t>Validation</a:t>
            </a:r>
            <a:r>
              <a:rPr dirty="0"/>
              <a:t>：384</a:t>
            </a:r>
            <a:r>
              <a:rPr lang="en-US" dirty="0"/>
              <a:t>samples</a:t>
            </a:r>
            <a:r>
              <a:rPr dirty="0"/>
              <a:t>，351</a:t>
            </a:r>
            <a:r>
              <a:rPr lang="en-US" dirty="0"/>
              <a:t> success</a:t>
            </a:r>
            <a:r>
              <a:rPr dirty="0"/>
              <a:t>； 33</a:t>
            </a:r>
            <a:r>
              <a:rPr lang="en-US" dirty="0"/>
              <a:t> failure not counted into error calculation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83F"/>
                </a:solidFill>
                <a:latin typeface="Arial"/>
              </a:defRPr>
            </a:pPr>
            <a:r>
              <a:t>Training loss and pose-estimation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478"/>
                </a:solidFill>
                <a:latin typeface="Arial"/>
              </a:defRPr>
            </a:pPr>
            <a:r>
              <a:t>Lower is better. Pose-estimation errors replace classification accuracy for this task.</a:t>
            </a:r>
          </a:p>
        </p:txBody>
      </p:sp>
      <p:pic>
        <p:nvPicPr>
          <p:cNvPr id="5" name="Picture 4" descr="finetune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1307592"/>
            <a:ext cx="7836408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01384"/>
            <a:ext cx="10972800" cy="21031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26478"/>
                </a:solidFill>
                <a:latin typeface="Arial"/>
              </a:defRPr>
            </a:pPr>
            <a:r>
              <a:t>Train error: measured before training and at the selected checkpoint only. Validation error: recorded every epoch.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Random Validation 1-5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8366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526478"/>
                </a:solidFill>
                <a:latin typeface="Arial"/>
              </a:defRPr>
            </a:pPr>
            <a:r>
              <a:t>Raw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7238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Dataset</a:t>
            </a:r>
          </a:p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annotation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6110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Official</a:t>
            </a:r>
          </a:p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44982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Fine-tuned</a:t>
            </a:r>
          </a:p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S019 | F276 | R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554480"/>
            <a:ext cx="1024128" cy="1024128"/>
          </a:xfrm>
          <a:prstGeom prst="rect">
            <a:avLst/>
          </a:prstGeom>
        </p:spPr>
      </p:pic>
      <p:pic>
        <p:nvPicPr>
          <p:cNvPr id="13" name="Picture 12" descr="41_annotation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01368" y="2743200"/>
            <a:ext cx="1024128" cy="1024128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3931920"/>
            <a:ext cx="1024128" cy="1024128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368" y="5120640"/>
            <a:ext cx="1024128" cy="1024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0136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184.4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40.5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F540 | L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1554480"/>
            <a:ext cx="1024128" cy="1024128"/>
          </a:xfrm>
          <a:prstGeom prst="rect">
            <a:avLst/>
          </a:prstGeom>
        </p:spPr>
      </p:pic>
      <p:pic>
        <p:nvPicPr>
          <p:cNvPr id="20" name="Picture 19" descr="298_annotation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04488" y="2743200"/>
            <a:ext cx="1024128" cy="1024128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88" y="3931920"/>
            <a:ext cx="1024128" cy="1024128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8" y="5120640"/>
            <a:ext cx="1024128" cy="1024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0448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35.7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15.0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S019 | F282 | R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608" y="1554480"/>
            <a:ext cx="1024128" cy="1024128"/>
          </a:xfrm>
          <a:prstGeom prst="rect">
            <a:avLst/>
          </a:prstGeom>
        </p:spPr>
      </p:pic>
      <p:pic>
        <p:nvPicPr>
          <p:cNvPr id="27" name="Picture 26" descr="42_annotation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07608" y="2743200"/>
            <a:ext cx="1024128" cy="1024128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7608" y="3931920"/>
            <a:ext cx="1024128" cy="1024128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7608" y="5120640"/>
            <a:ext cx="1024128" cy="10241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0760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41.0 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760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21.8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F420 | L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0728" y="1554480"/>
            <a:ext cx="1024128" cy="1024128"/>
          </a:xfrm>
          <a:prstGeom prst="rect">
            <a:avLst/>
          </a:prstGeom>
        </p:spPr>
      </p:pic>
      <p:pic>
        <p:nvPicPr>
          <p:cNvPr id="34" name="Picture 33" descr="258_annotation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10728" y="2743200"/>
            <a:ext cx="1024128" cy="1024128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0728" y="3931920"/>
            <a:ext cx="1024128" cy="1024128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0728" y="5120640"/>
            <a:ext cx="1024128" cy="10241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1072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41.2 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36.3 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F180 | R</a:t>
            </a:r>
          </a:p>
        </p:txBody>
      </p:sp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3848" y="1554480"/>
            <a:ext cx="1024128" cy="1024128"/>
          </a:xfrm>
          <a:prstGeom prst="rect">
            <a:avLst/>
          </a:prstGeom>
        </p:spPr>
      </p:pic>
      <p:pic>
        <p:nvPicPr>
          <p:cNvPr id="41" name="Picture 40" descr="181_annotation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13848" y="2743200"/>
            <a:ext cx="1024128" cy="1024128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13848" y="3931920"/>
            <a:ext cx="1024128" cy="1024128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3848" y="5120640"/>
            <a:ext cx="1024128" cy="10241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21384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78.8 px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1384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35.9 px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64224"/>
            <a:ext cx="10789920" cy="20116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0">
                <a:solidFill>
                  <a:srgbClr val="526478"/>
                </a:solidFill>
                <a:latin typeface="Arial"/>
              </a:defRPr>
            </a:pPr>
            <a:r>
              <a:t>Dataset annotation: 21 joints projected from the provided MANO parameters. Identical frame and display crop for all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Random Validation 6-10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8366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526478"/>
                </a:solidFill>
                <a:latin typeface="Arial"/>
              </a:defRPr>
            </a:pPr>
            <a:r>
              <a:t>Raw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7238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Dataset</a:t>
            </a:r>
          </a:p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annotation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6110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Official</a:t>
            </a:r>
          </a:p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44982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Fine-tuned</a:t>
            </a:r>
          </a:p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F174 | L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554480"/>
            <a:ext cx="1024128" cy="1024128"/>
          </a:xfrm>
          <a:prstGeom prst="rect">
            <a:avLst/>
          </a:prstGeom>
        </p:spPr>
      </p:pic>
      <p:pic>
        <p:nvPicPr>
          <p:cNvPr id="13" name="Picture 12" descr="178_annotation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01368" y="2743200"/>
            <a:ext cx="1024128" cy="1024128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3931920"/>
            <a:ext cx="1024128" cy="1024128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368" y="5120640"/>
            <a:ext cx="1024128" cy="1024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0136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56.1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26.9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F474 | L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1554480"/>
            <a:ext cx="1024128" cy="1024128"/>
          </a:xfrm>
          <a:prstGeom prst="rect">
            <a:avLst/>
          </a:prstGeom>
        </p:spPr>
      </p:pic>
      <p:pic>
        <p:nvPicPr>
          <p:cNvPr id="20" name="Picture 19" descr="276_annotation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04488" y="2743200"/>
            <a:ext cx="1024128" cy="1024128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88" y="3931920"/>
            <a:ext cx="1024128" cy="1024128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8" y="5120640"/>
            <a:ext cx="1024128" cy="1024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0448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38.9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21.0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S019 | F300 | R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608" y="1554480"/>
            <a:ext cx="1024128" cy="1024128"/>
          </a:xfrm>
          <a:prstGeom prst="rect">
            <a:avLst/>
          </a:prstGeom>
        </p:spPr>
      </p:pic>
      <p:pic>
        <p:nvPicPr>
          <p:cNvPr id="27" name="Picture 26" descr="45_annotation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07608" y="2743200"/>
            <a:ext cx="1024128" cy="1024128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7608" y="3931920"/>
            <a:ext cx="1024128" cy="1024128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7608" y="5120640"/>
            <a:ext cx="1024128" cy="10241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0760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33.3 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760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29.9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S019 | F612 | R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0728" y="1554480"/>
            <a:ext cx="1024128" cy="1024128"/>
          </a:xfrm>
          <a:prstGeom prst="rect">
            <a:avLst/>
          </a:prstGeom>
        </p:spPr>
      </p:pic>
      <p:pic>
        <p:nvPicPr>
          <p:cNvPr id="34" name="Picture 33" descr="94_annotation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10728" y="2743200"/>
            <a:ext cx="1024128" cy="1024128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0728" y="3931920"/>
            <a:ext cx="1024128" cy="1024128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0728" y="5120640"/>
            <a:ext cx="1024128" cy="10241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1072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37.4 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37.0 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1280160"/>
            <a:ext cx="192024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F636 | L</a:t>
            </a:r>
          </a:p>
        </p:txBody>
      </p:sp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3848" y="1554480"/>
            <a:ext cx="1024128" cy="1024128"/>
          </a:xfrm>
          <a:prstGeom prst="rect">
            <a:avLst/>
          </a:prstGeom>
        </p:spPr>
      </p:pic>
      <p:pic>
        <p:nvPicPr>
          <p:cNvPr id="41" name="Picture 40" descr="330_annotation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13848" y="2743200"/>
            <a:ext cx="1024128" cy="1024128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13848" y="3931920"/>
            <a:ext cx="1024128" cy="1024128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3848" y="5120640"/>
            <a:ext cx="1024128" cy="10241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21384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46.2 px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1384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31.9 px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64224"/>
            <a:ext cx="10789920" cy="20116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0">
                <a:solidFill>
                  <a:srgbClr val="526478"/>
                </a:solidFill>
                <a:latin typeface="Arial"/>
              </a:defRPr>
            </a:pPr>
            <a:r>
              <a:t>Dataset annotation: 21 joints projected from the provided MANO parameters. Identical frame and display crop for all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Worst case of Official </a:t>
            </a:r>
            <a:r>
              <a:rPr lang="en-US" dirty="0" err="1"/>
              <a:t>Wilor</a:t>
            </a:r>
            <a:r>
              <a:rPr lang="en-US" dirty="0"/>
              <a:t> | Improvement of fine-tuning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8366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526478"/>
                </a:solidFill>
                <a:latin typeface="Arial"/>
              </a:defRPr>
            </a:pPr>
            <a:r>
              <a:t>Raw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7238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Dataset</a:t>
            </a:r>
          </a:p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annotation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6110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Official</a:t>
            </a:r>
          </a:p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44982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Fine-tuned</a:t>
            </a:r>
          </a:p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S019 | F276 | R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258" y="1554480"/>
            <a:ext cx="1024128" cy="1024128"/>
          </a:xfrm>
          <a:prstGeom prst="rect">
            <a:avLst/>
          </a:prstGeom>
        </p:spPr>
      </p:pic>
      <p:pic>
        <p:nvPicPr>
          <p:cNvPr id="13" name="Picture 12" descr="41_annotation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64258" y="2743200"/>
            <a:ext cx="1024128" cy="1024128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258" y="3931920"/>
            <a:ext cx="1024128" cy="1024128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258" y="5120640"/>
            <a:ext cx="1024128" cy="1024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642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184.4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42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40.5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22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F504 | R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158" y="1554480"/>
            <a:ext cx="1024128" cy="1024128"/>
          </a:xfrm>
          <a:prstGeom prst="rect">
            <a:avLst/>
          </a:prstGeom>
        </p:spPr>
      </p:pic>
      <p:pic>
        <p:nvPicPr>
          <p:cNvPr id="20" name="Picture 19" descr="287_annotation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3158" y="2743200"/>
            <a:ext cx="1024128" cy="1024128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158" y="3931920"/>
            <a:ext cx="1024128" cy="1024128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158" y="5120640"/>
            <a:ext cx="1024128" cy="1024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931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121.8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31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28.0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S019 | F786 | R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058" y="1554480"/>
            <a:ext cx="1024128" cy="1024128"/>
          </a:xfrm>
          <a:prstGeom prst="rect">
            <a:avLst/>
          </a:prstGeom>
        </p:spPr>
      </p:pic>
      <p:pic>
        <p:nvPicPr>
          <p:cNvPr id="27" name="Picture 26" descr="123_annotation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2058" y="2743200"/>
            <a:ext cx="1024128" cy="1024128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2058" y="3931920"/>
            <a:ext cx="1024128" cy="1024128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2058" y="5120640"/>
            <a:ext cx="1024128" cy="10241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220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105.8 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20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43.4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00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F210 | R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0958" y="1554480"/>
            <a:ext cx="1024128" cy="1024128"/>
          </a:xfrm>
          <a:prstGeom prst="rect">
            <a:avLst/>
          </a:prstGeom>
        </p:spPr>
      </p:pic>
      <p:pic>
        <p:nvPicPr>
          <p:cNvPr id="34" name="Picture 33" descr="191_annotation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50958" y="2743200"/>
            <a:ext cx="1024128" cy="1024128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50958" y="3931920"/>
            <a:ext cx="1024128" cy="1024128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50958" y="5120640"/>
            <a:ext cx="1024128" cy="10241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509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99.0 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09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36.1 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64224"/>
            <a:ext cx="10789920" cy="20116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0">
                <a:solidFill>
                  <a:srgbClr val="526478"/>
                </a:solidFill>
                <a:latin typeface="Arial"/>
              </a:defRPr>
            </a:pPr>
            <a:r>
              <a:t>Dataset annotation: 21 joints projected from the provided MANO parameters. Identical frame and display crop for all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rPr lang="en-US" dirty="0"/>
              <a:t>Worst case of Fine-tuned </a:t>
            </a:r>
            <a:r>
              <a:rPr lang="en-US" dirty="0" err="1"/>
              <a:t>Wilor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8366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526478"/>
                </a:solidFill>
                <a:latin typeface="Arial"/>
              </a:defRPr>
            </a:pPr>
            <a:r>
              <a:t>Raw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7238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Dataset</a:t>
            </a:r>
          </a:p>
          <a:p>
            <a:pPr>
              <a:defRPr sz="1500" b="1">
                <a:solidFill>
                  <a:srgbClr val="278632"/>
                </a:solidFill>
                <a:latin typeface="Arial"/>
              </a:defRPr>
            </a:pPr>
            <a:r>
              <a:t>annotation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6110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Official</a:t>
            </a:r>
          </a:p>
          <a:p>
            <a:pPr>
              <a:defRPr sz="1500" b="1">
                <a:solidFill>
                  <a:srgbClr val="DB7D29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449824"/>
            <a:ext cx="1051560" cy="640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Fine-tuned</a:t>
            </a:r>
          </a:p>
          <a:p>
            <a:pPr>
              <a:defRPr sz="1500" b="1">
                <a:solidFill>
                  <a:srgbClr val="218BC4"/>
                </a:solidFill>
                <a:latin typeface="Arial"/>
              </a:defRPr>
            </a:pPr>
            <a:r>
              <a:t>WiLoR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F450 | L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258" y="1554480"/>
            <a:ext cx="1024128" cy="1024128"/>
          </a:xfrm>
          <a:prstGeom prst="rect">
            <a:avLst/>
          </a:prstGeom>
        </p:spPr>
      </p:pic>
      <p:pic>
        <p:nvPicPr>
          <p:cNvPr id="13" name="Picture 12" descr="268_annotation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64258" y="2743200"/>
            <a:ext cx="1024128" cy="1024128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258" y="3931920"/>
            <a:ext cx="1024128" cy="1024128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258" y="5120640"/>
            <a:ext cx="1024128" cy="1024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642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98.1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42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97.6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22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F282 | L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158" y="1554480"/>
            <a:ext cx="1024128" cy="1024128"/>
          </a:xfrm>
          <a:prstGeom prst="rect">
            <a:avLst/>
          </a:prstGeom>
        </p:spPr>
      </p:pic>
      <p:pic>
        <p:nvPicPr>
          <p:cNvPr id="20" name="Picture 19" descr="212_annotation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3158" y="2743200"/>
            <a:ext cx="1024128" cy="1024128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158" y="3931920"/>
            <a:ext cx="1024128" cy="1024128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158" y="5120640"/>
            <a:ext cx="1024128" cy="1024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931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90.1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31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73.4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F324 | L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058" y="1554480"/>
            <a:ext cx="1024128" cy="1024128"/>
          </a:xfrm>
          <a:prstGeom prst="rect">
            <a:avLst/>
          </a:prstGeom>
        </p:spPr>
      </p:pic>
      <p:pic>
        <p:nvPicPr>
          <p:cNvPr id="27" name="Picture 26" descr="226_annotation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2058" y="2743200"/>
            <a:ext cx="1024128" cy="1024128"/>
          </a:xfrm>
          <a:prstGeom prst="rect">
            <a:avLst/>
          </a:prstGeom>
        </p:spPr>
      </p:pic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2058" y="3931920"/>
            <a:ext cx="1024128" cy="1024128"/>
          </a:xfrm>
          <a:prstGeom prst="rect">
            <a:avLst/>
          </a:prstGeom>
        </p:spPr>
      </p:pic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2058" y="5120640"/>
            <a:ext cx="1024128" cy="10241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220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75.6 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20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70.3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0012" y="1280160"/>
            <a:ext cx="2446020" cy="21945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0">
                <a:solidFill>
                  <a:srgbClr val="526478"/>
                </a:solidFill>
                <a:latin typeface="Arial"/>
              </a:defRPr>
            </a:pPr>
            <a:r>
              <a:t>S036 | F354 | L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0958" y="1554480"/>
            <a:ext cx="1024128" cy="1024128"/>
          </a:xfrm>
          <a:prstGeom prst="rect">
            <a:avLst/>
          </a:prstGeom>
        </p:spPr>
      </p:pic>
      <p:pic>
        <p:nvPicPr>
          <p:cNvPr id="34" name="Picture 33" descr="236_annotation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50958" y="2743200"/>
            <a:ext cx="1024128" cy="1024128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50958" y="3931920"/>
            <a:ext cx="1024128" cy="1024128"/>
          </a:xfrm>
          <a:prstGeom prst="rect">
            <a:avLst/>
          </a:prstGeom>
        </p:spPr>
      </p:pic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50958" y="5120640"/>
            <a:ext cx="1024128" cy="10241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50958" y="496519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DB7D29"/>
                </a:solidFill>
                <a:latin typeface="Arial"/>
              </a:defRPr>
            </a:pPr>
            <a:r>
              <a:t>74.8 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0958" y="6153912"/>
            <a:ext cx="1207008" cy="182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218BC4"/>
                </a:solidFill>
                <a:latin typeface="Arial"/>
              </a:defRPr>
            </a:pPr>
            <a:r>
              <a:t>67.0 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64224"/>
            <a:ext cx="10789920" cy="20116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0">
                <a:solidFill>
                  <a:srgbClr val="526478"/>
                </a:solidFill>
                <a:latin typeface="Arial"/>
              </a:defRPr>
            </a:pPr>
            <a:r>
              <a:t>Dataset annotation: 21 joints projected from the provided MANO parameters. Identical frame and display crop for all 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4283F"/>
                </a:solidFill>
                <a:latin typeface="Microsoft YaHei"/>
              </a:defRPr>
            </a:pPr>
            <a:r>
              <a:t>当前结论与下一步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7824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t>已完成裁剪统一；继续围绕手套场景的实际效果验证改进。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9672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26478"/>
                </a:solidFill>
                <a:latin typeface="Microsoft YaHei"/>
              </a:defRPr>
            </a:pPr>
            <a:r>
              <a:t>验证集 · 统一检测框紧裁剪 · 误差以数据集 MANO 拟合标注为参考；图片不显示标注骨架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已完成：统一训练与推理裁剪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26478"/>
                </a:solidFill>
                <a:latin typeface="Microsoft YaHei"/>
              </a:defRPr>
            </a:pPr>
            <a:r>
              <a:t>正方形框 ×1.25；两模型使用同一检测框，平均二维误差下降约25%。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7180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下一步：改善定位与框变化适应性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3872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26478"/>
                </a:solidFill>
                <a:latin typeface="Microsoft YaHei"/>
              </a:defRPr>
            </a:pPr>
            <a:r>
              <a:t>在后续微调中加入检测框中心、尺度扰动，同时监测原图投影和手腕偏差。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51960"/>
            <a:ext cx="502920" cy="502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51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4283F"/>
                </a:solidFill>
                <a:latin typeface="Microsoft YaHei"/>
              </a:defRPr>
            </a:pPr>
            <a:r>
              <a:t>最后：用新的留出录像确认收益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1888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26478"/>
                </a:solidFill>
                <a:latin typeface="Microsoft YaHei"/>
              </a:defRPr>
            </a:pPr>
            <a:r>
              <a:t>检查未见过的手套姿态和裸手表现，再决定是否替换官方模型。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3387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26478"/>
                </a:solidFill>
                <a:latin typeface="Microsoft YaHei"/>
              </a:defRPr>
            </a:pPr>
            <a:r>
              <a:t>当前限制：平均改善不代表每帧更好；手腕定位与裸手表现仍有退化，参考标注也存在误差。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992</Words>
  <Application>Microsoft Office PowerPoint</Application>
  <PresentationFormat>Widescreen</PresentationFormat>
  <Paragraphs>176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Jiang, Xue</cp:lastModifiedBy>
  <cp:revision>1</cp:revision>
  <dcterms:created xsi:type="dcterms:W3CDTF">2013-01-27T09:14:16Z</dcterms:created>
  <dcterms:modified xsi:type="dcterms:W3CDTF">2026-10-16T20:34:26Z</dcterms:modified>
  <cp:category/>
</cp:coreProperties>
</file>