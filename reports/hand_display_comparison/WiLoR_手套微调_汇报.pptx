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2" r:id="rId15"/>
    <p:sldId id="256" r:id="rId2"/>
    <p:sldId id="263" r:id="rId16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7AA471-D1F9-4246-9F45-7BCBE082D7C3}" v="8" dt="2026-10-16T20:31:48.1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523" autoAdjust="0"/>
  </p:normalViewPr>
  <p:slideViewPr>
    <p:cSldViewPr snapToGrid="0" snapToObjects="1">
      <p:cViewPr varScale="1">
        <p:scale>
          <a:sx n="66" d="100"/>
          <a:sy n="66" d="100"/>
        </p:scale>
        <p:origin x="1301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Relationship Id="rId15" Type="http://schemas.openxmlformats.org/officeDocument/2006/relationships/slide" Target="slides/slide1.xml"/><Relationship Id="rId16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ng, Xue" userId="cb9e0339-2a35-43e7-8740-807d03ac7dd5" providerId="ADAL" clId="{4042D26F-4528-4584-B51B-4CED43E6AE13}"/>
    <pc:docChg chg="undo custSel modSld">
      <pc:chgData name="Jiang, Xue" userId="cb9e0339-2a35-43e7-8740-807d03ac7dd5" providerId="ADAL" clId="{4042D26F-4528-4584-B51B-4CED43E6AE13}" dt="2026-10-16T20:34:19.225" v="545" actId="478"/>
      <pc:docMkLst>
        <pc:docMk/>
      </pc:docMkLst>
      <pc:sldChg chg="addSp delSp modSp mod modNotesTx">
        <pc:chgData name="Jiang, Xue" userId="cb9e0339-2a35-43e7-8740-807d03ac7dd5" providerId="ADAL" clId="{4042D26F-4528-4584-B51B-4CED43E6AE13}" dt="2026-10-16T20:32:41.782" v="540" actId="20577"/>
        <pc:sldMkLst>
          <pc:docMk/>
          <pc:sldMk cId="0" sldId="256"/>
        </pc:sldMkLst>
        <pc:spChg chg="mod">
          <ac:chgData name="Jiang, Xue" userId="cb9e0339-2a35-43e7-8740-807d03ac7dd5" providerId="ADAL" clId="{4042D26F-4528-4584-B51B-4CED43E6AE13}" dt="2026-10-16T20:27:10.542" v="224" actId="20577"/>
          <ac:spMkLst>
            <pc:docMk/>
            <pc:sldMk cId="0" sldId="256"/>
            <ac:spMk id="3" creationId="{00000000-0000-0000-0000-000000000000}"/>
          </ac:spMkLst>
        </pc:spChg>
        <pc:spChg chg="mod">
          <ac:chgData name="Jiang, Xue" userId="cb9e0339-2a35-43e7-8740-807d03ac7dd5" providerId="ADAL" clId="{4042D26F-4528-4584-B51B-4CED43E6AE13}" dt="2026-10-16T20:28:02.270" v="282" actId="20577"/>
          <ac:spMkLst>
            <pc:docMk/>
            <pc:sldMk cId="0" sldId="256"/>
            <ac:spMk id="4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29:02.186" v="328" actId="478"/>
          <ac:spMkLst>
            <pc:docMk/>
            <pc:sldMk cId="0" sldId="256"/>
            <ac:spMk id="5" creationId="{00000000-0000-0000-0000-000000000000}"/>
          </ac:spMkLst>
        </pc:spChg>
        <pc:spChg chg="mod">
          <ac:chgData name="Jiang, Xue" userId="cb9e0339-2a35-43e7-8740-807d03ac7dd5" providerId="ADAL" clId="{4042D26F-4528-4584-B51B-4CED43E6AE13}" dt="2026-10-16T20:22:14.014" v="112" actId="20577"/>
          <ac:spMkLst>
            <pc:docMk/>
            <pc:sldMk cId="0" sldId="256"/>
            <ac:spMk id="8" creationId="{00000000-0000-0000-0000-000000000000}"/>
          </ac:spMkLst>
        </pc:spChg>
        <pc:spChg chg="mod">
          <ac:chgData name="Jiang, Xue" userId="cb9e0339-2a35-43e7-8740-807d03ac7dd5" providerId="ADAL" clId="{4042D26F-4528-4584-B51B-4CED43E6AE13}" dt="2026-10-16T20:27:21.937" v="234" actId="20577"/>
          <ac:spMkLst>
            <pc:docMk/>
            <pc:sldMk cId="0" sldId="256"/>
            <ac:spMk id="14" creationId="{00000000-0000-0000-0000-000000000000}"/>
          </ac:spMkLst>
        </pc:spChg>
        <pc:spChg chg="mod">
          <ac:chgData name="Jiang, Xue" userId="cb9e0339-2a35-43e7-8740-807d03ac7dd5" providerId="ADAL" clId="{4042D26F-4528-4584-B51B-4CED43E6AE13}" dt="2026-10-16T20:32:41.782" v="540" actId="20577"/>
          <ac:spMkLst>
            <pc:docMk/>
            <pc:sldMk cId="0" sldId="256"/>
            <ac:spMk id="16" creationId="{00000000-0000-0000-0000-000000000000}"/>
          </ac:spMkLst>
        </pc:spChg>
        <pc:spChg chg="del mod">
          <ac:chgData name="Jiang, Xue" userId="cb9e0339-2a35-43e7-8740-807d03ac7dd5" providerId="ADAL" clId="{4042D26F-4528-4584-B51B-4CED43E6AE13}" dt="2026-10-16T20:31:38.336" v="463"/>
          <ac:spMkLst>
            <pc:docMk/>
            <pc:sldMk cId="0" sldId="256"/>
            <ac:spMk id="17" creationId="{00000000-0000-0000-0000-000000000000}"/>
          </ac:spMkLst>
        </pc:spChg>
        <pc:spChg chg="mod">
          <ac:chgData name="Jiang, Xue" userId="cb9e0339-2a35-43e7-8740-807d03ac7dd5" providerId="ADAL" clId="{4042D26F-4528-4584-B51B-4CED43E6AE13}" dt="2026-10-16T20:30:16.237" v="459" actId="20577"/>
          <ac:spMkLst>
            <pc:docMk/>
            <pc:sldMk cId="0" sldId="256"/>
            <ac:spMk id="18" creationId="{00000000-0000-0000-0000-000000000000}"/>
          </ac:spMkLst>
        </pc:spChg>
        <pc:spChg chg="add del mod">
          <ac:chgData name="Jiang, Xue" userId="cb9e0339-2a35-43e7-8740-807d03ac7dd5" providerId="ADAL" clId="{4042D26F-4528-4584-B51B-4CED43E6AE13}" dt="2026-10-16T20:31:50.638" v="469"/>
          <ac:spMkLst>
            <pc:docMk/>
            <pc:sldMk cId="0" sldId="256"/>
            <ac:spMk id="20" creationId="{5FA103FC-49FC-1F7F-C243-18496B7A43BB}"/>
          </ac:spMkLst>
        </pc:spChg>
      </pc:sldChg>
      <pc:sldChg chg="addSp delSp modSp mod modNotesTx">
        <pc:chgData name="Jiang, Xue" userId="cb9e0339-2a35-43e7-8740-807d03ac7dd5" providerId="ADAL" clId="{4042D26F-4528-4584-B51B-4CED43E6AE13}" dt="2026-10-16T20:23:30.834" v="151" actId="20577"/>
        <pc:sldMkLst>
          <pc:docMk/>
          <pc:sldMk cId="0" sldId="257"/>
        </pc:sldMkLst>
        <pc:spChg chg="mod">
          <ac:chgData name="Jiang, Xue" userId="cb9e0339-2a35-43e7-8740-807d03ac7dd5" providerId="ADAL" clId="{4042D26F-4528-4584-B51B-4CED43E6AE13}" dt="2026-10-16T20:23:30.834" v="151" actId="20577"/>
          <ac:spMkLst>
            <pc:docMk/>
            <pc:sldMk cId="0" sldId="257"/>
            <ac:spMk id="3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22:59.750" v="131" actId="21"/>
          <ac:spMkLst>
            <pc:docMk/>
            <pc:sldMk cId="0" sldId="257"/>
            <ac:spMk id="4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22:50.826" v="130" actId="478"/>
          <ac:spMkLst>
            <pc:docMk/>
            <pc:sldMk cId="0" sldId="257"/>
            <ac:spMk id="5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21:27.926" v="67" actId="478"/>
          <ac:spMkLst>
            <pc:docMk/>
            <pc:sldMk cId="0" sldId="257"/>
            <ac:spMk id="7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21:27.926" v="67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21:27.926" v="67" actId="478"/>
          <ac:spMkLst>
            <pc:docMk/>
            <pc:sldMk cId="0" sldId="257"/>
            <ac:spMk id="9" creationId="{00000000-0000-0000-0000-000000000000}"/>
          </ac:spMkLst>
        </pc:spChg>
        <pc:spChg chg="add">
          <ac:chgData name="Jiang, Xue" userId="cb9e0339-2a35-43e7-8740-807d03ac7dd5" providerId="ADAL" clId="{4042D26F-4528-4584-B51B-4CED43E6AE13}" dt="2026-10-16T20:21:28.478" v="68" actId="22"/>
          <ac:spMkLst>
            <pc:docMk/>
            <pc:sldMk cId="0" sldId="257"/>
            <ac:spMk id="51" creationId="{4A150D1F-1FC3-0783-65E5-1120FAEA32BC}"/>
          </ac:spMkLst>
        </pc:spChg>
        <pc:spChg chg="add">
          <ac:chgData name="Jiang, Xue" userId="cb9e0339-2a35-43e7-8740-807d03ac7dd5" providerId="ADAL" clId="{4042D26F-4528-4584-B51B-4CED43E6AE13}" dt="2026-10-16T20:21:28.478" v="68" actId="22"/>
          <ac:spMkLst>
            <pc:docMk/>
            <pc:sldMk cId="0" sldId="257"/>
            <ac:spMk id="53" creationId="{FFE506C2-82D6-3F0D-9684-3E8906D48E01}"/>
          </ac:spMkLst>
        </pc:spChg>
        <pc:spChg chg="add">
          <ac:chgData name="Jiang, Xue" userId="cb9e0339-2a35-43e7-8740-807d03ac7dd5" providerId="ADAL" clId="{4042D26F-4528-4584-B51B-4CED43E6AE13}" dt="2026-10-16T20:21:28.478" v="68" actId="22"/>
          <ac:spMkLst>
            <pc:docMk/>
            <pc:sldMk cId="0" sldId="257"/>
            <ac:spMk id="55" creationId="{212AE6B5-B35B-3C7D-C76F-AE22FCFF9BDF}"/>
          </ac:spMkLst>
        </pc:spChg>
        <pc:spChg chg="add del">
          <ac:chgData name="Jiang, Xue" userId="cb9e0339-2a35-43e7-8740-807d03ac7dd5" providerId="ADAL" clId="{4042D26F-4528-4584-B51B-4CED43E6AE13}" dt="2026-10-16T20:23:05.816" v="134" actId="22"/>
          <ac:spMkLst>
            <pc:docMk/>
            <pc:sldMk cId="0" sldId="257"/>
            <ac:spMk id="57" creationId="{1CCE3E49-CC45-0C08-7FEB-9A2FED7C7791}"/>
          </ac:spMkLst>
        </pc:spChg>
        <pc:spChg chg="add del mod">
          <ac:chgData name="Jiang, Xue" userId="cb9e0339-2a35-43e7-8740-807d03ac7dd5" providerId="ADAL" clId="{4042D26F-4528-4584-B51B-4CED43E6AE13}" dt="2026-10-16T20:23:12.366" v="137" actId="478"/>
          <ac:spMkLst>
            <pc:docMk/>
            <pc:sldMk cId="0" sldId="257"/>
            <ac:spMk id="59" creationId="{92670458-8B8E-F681-6B08-E44F3A4B725B}"/>
          </ac:spMkLst>
        </pc:spChg>
      </pc:sldChg>
      <pc:sldChg chg="delSp modSp mod">
        <pc:chgData name="Jiang, Xue" userId="cb9e0339-2a35-43e7-8740-807d03ac7dd5" providerId="ADAL" clId="{4042D26F-4528-4584-B51B-4CED43E6AE13}" dt="2026-10-16T20:23:56.014" v="158" actId="478"/>
        <pc:sldMkLst>
          <pc:docMk/>
          <pc:sldMk cId="0" sldId="258"/>
        </pc:sldMkLst>
        <pc:spChg chg="mod">
          <ac:chgData name="Jiang, Xue" userId="cb9e0339-2a35-43e7-8740-807d03ac7dd5" providerId="ADAL" clId="{4042D26F-4528-4584-B51B-4CED43E6AE13}" dt="2026-10-16T20:23:48.222" v="156" actId="20577"/>
          <ac:spMkLst>
            <pc:docMk/>
            <pc:sldMk cId="0" sldId="258"/>
            <ac:spMk id="3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23:54.022" v="157" actId="478"/>
          <ac:spMkLst>
            <pc:docMk/>
            <pc:sldMk cId="0" sldId="258"/>
            <ac:spMk id="4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23:56.014" v="158" actId="478"/>
          <ac:spMkLst>
            <pc:docMk/>
            <pc:sldMk cId="0" sldId="258"/>
            <ac:spMk id="5" creationId="{00000000-0000-0000-0000-000000000000}"/>
          </ac:spMkLst>
        </pc:spChg>
        <pc:spChg chg="mod">
          <ac:chgData name="Jiang, Xue" userId="cb9e0339-2a35-43e7-8740-807d03ac7dd5" providerId="ADAL" clId="{4042D26F-4528-4584-B51B-4CED43E6AE13}" dt="2026-10-16T20:21:14.113" v="66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Jiang, Xue" userId="cb9e0339-2a35-43e7-8740-807d03ac7dd5" providerId="ADAL" clId="{4042D26F-4528-4584-B51B-4CED43E6AE13}" dt="2026-10-16T20:20:52.550" v="45" actId="20577"/>
          <ac:spMkLst>
            <pc:docMk/>
            <pc:sldMk cId="0" sldId="258"/>
            <ac:spMk id="8" creationId="{00000000-0000-0000-0000-000000000000}"/>
          </ac:spMkLst>
        </pc:spChg>
        <pc:spChg chg="mod">
          <ac:chgData name="Jiang, Xue" userId="cb9e0339-2a35-43e7-8740-807d03ac7dd5" providerId="ADAL" clId="{4042D26F-4528-4584-B51B-4CED43E6AE13}" dt="2026-10-16T20:20:58.806" v="55" actId="20577"/>
          <ac:spMkLst>
            <pc:docMk/>
            <pc:sldMk cId="0" sldId="258"/>
            <ac:spMk id="9" creationId="{00000000-0000-0000-0000-000000000000}"/>
          </ac:spMkLst>
        </pc:spChg>
      </pc:sldChg>
      <pc:sldChg chg="delSp modSp mod">
        <pc:chgData name="Jiang, Xue" userId="cb9e0339-2a35-43e7-8740-807d03ac7dd5" providerId="ADAL" clId="{4042D26F-4528-4584-B51B-4CED43E6AE13}" dt="2026-10-16T20:33:32.253" v="543" actId="20577"/>
        <pc:sldMkLst>
          <pc:docMk/>
          <pc:sldMk cId="0" sldId="259"/>
        </pc:sldMkLst>
        <pc:spChg chg="mod">
          <ac:chgData name="Jiang, Xue" userId="cb9e0339-2a35-43e7-8740-807d03ac7dd5" providerId="ADAL" clId="{4042D26F-4528-4584-B51B-4CED43E6AE13}" dt="2026-10-16T20:33:32.253" v="543" actId="20577"/>
          <ac:spMkLst>
            <pc:docMk/>
            <pc:sldMk cId="0" sldId="259"/>
            <ac:spMk id="3" creationId="{00000000-0000-0000-0000-000000000000}"/>
          </ac:spMkLst>
        </pc:spChg>
        <pc:spChg chg="del mod">
          <ac:chgData name="Jiang, Xue" userId="cb9e0339-2a35-43e7-8740-807d03ac7dd5" providerId="ADAL" clId="{4042D26F-4528-4584-B51B-4CED43E6AE13}" dt="2026-10-16T20:24:49.604" v="219"/>
          <ac:spMkLst>
            <pc:docMk/>
            <pc:sldMk cId="0" sldId="259"/>
            <ac:spMk id="4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24:54.466" v="220" actId="478"/>
          <ac:spMkLst>
            <pc:docMk/>
            <pc:sldMk cId="0" sldId="259"/>
            <ac:spMk id="5" creationId="{00000000-0000-0000-0000-000000000000}"/>
          </ac:spMkLst>
        </pc:spChg>
        <pc:spChg chg="mod">
          <ac:chgData name="Jiang, Xue" userId="cb9e0339-2a35-43e7-8740-807d03ac7dd5" providerId="ADAL" clId="{4042D26F-4528-4584-B51B-4CED43E6AE13}" dt="2026-10-16T20:20:18.990" v="12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Jiang, Xue" userId="cb9e0339-2a35-43e7-8740-807d03ac7dd5" providerId="ADAL" clId="{4042D26F-4528-4584-B51B-4CED43E6AE13}" dt="2026-10-16T20:20:27.386" v="24" actId="20577"/>
          <ac:spMkLst>
            <pc:docMk/>
            <pc:sldMk cId="0" sldId="259"/>
            <ac:spMk id="8" creationId="{00000000-0000-0000-0000-000000000000}"/>
          </ac:spMkLst>
        </pc:spChg>
        <pc:spChg chg="mod">
          <ac:chgData name="Jiang, Xue" userId="cb9e0339-2a35-43e7-8740-807d03ac7dd5" providerId="ADAL" clId="{4042D26F-4528-4584-B51B-4CED43E6AE13}" dt="2026-10-16T20:20:35.763" v="37" actId="20577"/>
          <ac:spMkLst>
            <pc:docMk/>
            <pc:sldMk cId="0" sldId="259"/>
            <ac:spMk id="9" creationId="{00000000-0000-0000-0000-000000000000}"/>
          </ac:spMkLst>
        </pc:spChg>
      </pc:sldChg>
      <pc:sldChg chg="addSp delSp modSp mod">
        <pc:chgData name="Jiang, Xue" userId="cb9e0339-2a35-43e7-8740-807d03ac7dd5" providerId="ADAL" clId="{4042D26F-4528-4584-B51B-4CED43E6AE13}" dt="2026-10-16T20:34:19.225" v="545" actId="478"/>
        <pc:sldMkLst>
          <pc:docMk/>
          <pc:sldMk cId="0" sldId="260"/>
        </pc:sldMkLst>
        <pc:spChg chg="mod">
          <ac:chgData name="Jiang, Xue" userId="cb9e0339-2a35-43e7-8740-807d03ac7dd5" providerId="ADAL" clId="{4042D26F-4528-4584-B51B-4CED43E6AE13}" dt="2026-10-16T20:21:55.905" v="100" actId="20577"/>
          <ac:spMkLst>
            <pc:docMk/>
            <pc:sldMk cId="0" sldId="260"/>
            <ac:spMk id="3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33:46.770" v="544" actId="478"/>
          <ac:spMkLst>
            <pc:docMk/>
            <pc:sldMk cId="0" sldId="260"/>
            <ac:spMk id="4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34:19.225" v="545" actId="478"/>
          <ac:spMkLst>
            <pc:docMk/>
            <pc:sldMk cId="0" sldId="260"/>
            <ac:spMk id="5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21:32.969" v="69" actId="478"/>
          <ac:spMkLst>
            <pc:docMk/>
            <pc:sldMk cId="0" sldId="260"/>
            <ac:spMk id="7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21:32.969" v="69" actId="478"/>
          <ac:spMkLst>
            <pc:docMk/>
            <pc:sldMk cId="0" sldId="260"/>
            <ac:spMk id="8" creationId="{00000000-0000-0000-0000-000000000000}"/>
          </ac:spMkLst>
        </pc:spChg>
        <pc:spChg chg="del">
          <ac:chgData name="Jiang, Xue" userId="cb9e0339-2a35-43e7-8740-807d03ac7dd5" providerId="ADAL" clId="{4042D26F-4528-4584-B51B-4CED43E6AE13}" dt="2026-10-16T20:21:32.969" v="69" actId="478"/>
          <ac:spMkLst>
            <pc:docMk/>
            <pc:sldMk cId="0" sldId="260"/>
            <ac:spMk id="9" creationId="{00000000-0000-0000-0000-000000000000}"/>
          </ac:spMkLst>
        </pc:spChg>
        <pc:spChg chg="add">
          <ac:chgData name="Jiang, Xue" userId="cb9e0339-2a35-43e7-8740-807d03ac7dd5" providerId="ADAL" clId="{4042D26F-4528-4584-B51B-4CED43E6AE13}" dt="2026-10-16T20:21:33.586" v="70" actId="22"/>
          <ac:spMkLst>
            <pc:docMk/>
            <pc:sldMk cId="0" sldId="260"/>
            <ac:spMk id="43" creationId="{D6BD8D68-D819-2A8B-3442-5018D38DE49B}"/>
          </ac:spMkLst>
        </pc:spChg>
        <pc:spChg chg="add">
          <ac:chgData name="Jiang, Xue" userId="cb9e0339-2a35-43e7-8740-807d03ac7dd5" providerId="ADAL" clId="{4042D26F-4528-4584-B51B-4CED43E6AE13}" dt="2026-10-16T20:21:33.586" v="70" actId="22"/>
          <ac:spMkLst>
            <pc:docMk/>
            <pc:sldMk cId="0" sldId="260"/>
            <ac:spMk id="45" creationId="{F396A9A3-8C22-DD9C-4229-7C60B1AD7723}"/>
          </ac:spMkLst>
        </pc:spChg>
        <pc:spChg chg="add">
          <ac:chgData name="Jiang, Xue" userId="cb9e0339-2a35-43e7-8740-807d03ac7dd5" providerId="ADAL" clId="{4042D26F-4528-4584-B51B-4CED43E6AE13}" dt="2026-10-16T20:21:33.586" v="70" actId="22"/>
          <ac:spMkLst>
            <pc:docMk/>
            <pc:sldMk cId="0" sldId="260"/>
            <ac:spMk id="47" creationId="{A8BF6A9F-BE73-109C-F7A0-CA3C40D413E6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9065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Fixed epoch-9 checkpoint, test split sessions 035/038, 517 eligible and 488 matched hand samples. Source: evaluation/hand_display_test_final/result.json and per_sample.csv. Dataset MANO is fitted reference. No parameter or checkpoint selection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Fixed epoch-9 checkpoint, test split sessions 035/038, 517 eligible and 488 matched hand samples. Source: evaluation/hand_display_test_final/result.json and per_sample.csv. Dataset MANO is fitted reference. No parameter or checkpoint selection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Fixed epoch-9 checkpoint, test split sessions 035/038, 517 eligible and 488 matched hand samples. Source: evaluation/hand_display_test_final/result.json and per_sample.csv. Dataset MANO is fitted reference. No parameter or checkpoint selection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Fixed epoch-9 checkpoint, test split sessions 035/038, 517 eligible and 488 matched hand samples. Source: evaluation/hand_display_test_final/result.json and per_sample.csv. Dataset MANO is fitted reference. No parameter or checkpoint selection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Fixed epoch-9 checkpoint, test split sessions 035/038, 517 eligible and 488 matched hand samples. Source: evaluation/hand_display_test_final/result.json and per_sample.csv. Dataset MANO is fitted reference. No parameter or checkpoint selection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合并旧结论版中的下一步计划，并将裁剪统一更新为已完成。其余旧裁剪诊断留在实验记录，不放入面向观众的汇报。第二轮微调尚未启动。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Relationship Id="rId17" Type="http://schemas.openxmlformats.org/officeDocument/2006/relationships/image" Target="../media/image15.jpg"/><Relationship Id="rId18" Type="http://schemas.openxmlformats.org/officeDocument/2006/relationships/image" Target="../media/image53.jpg"/><Relationship Id="rId19" Type="http://schemas.openxmlformats.org/officeDocument/2006/relationships/image" Target="../media/image54.jpg"/><Relationship Id="rId20" Type="http://schemas.openxmlformats.org/officeDocument/2006/relationships/image" Target="../media/image55.jpg"/><Relationship Id="rId21" Type="http://schemas.openxmlformats.org/officeDocument/2006/relationships/image" Target="../media/image56.jpg"/><Relationship Id="rId22" Type="http://schemas.openxmlformats.org/officeDocument/2006/relationships/image" Target="../media/image57.jpg"/><Relationship Id="rId23" Type="http://schemas.openxmlformats.org/officeDocument/2006/relationships/image" Target="../media/image70.jpg"/><Relationship Id="rId24" Type="http://schemas.openxmlformats.org/officeDocument/2006/relationships/image" Target="../media/image71.jpg"/><Relationship Id="rId25" Type="http://schemas.openxmlformats.org/officeDocument/2006/relationships/image" Target="../media/image72.jpg"/><Relationship Id="rId26" Type="http://schemas.openxmlformats.org/officeDocument/2006/relationships/image" Target="../media/image73.jpg"/><Relationship Id="rId27" Type="http://schemas.openxmlformats.org/officeDocument/2006/relationships/image" Target="../media/image74.jpg"/><Relationship Id="rId28" Type="http://schemas.openxmlformats.org/officeDocument/2006/relationships/image" Target="../media/image75.jpg"/><Relationship Id="rId29" Type="http://schemas.openxmlformats.org/officeDocument/2006/relationships/image" Target="../media/image76.jpg"/><Relationship Id="rId30" Type="http://schemas.openxmlformats.org/officeDocument/2006/relationships/image" Target="../media/image77.jpg"/><Relationship Id="rId31" Type="http://schemas.openxmlformats.org/officeDocument/2006/relationships/image" Target="../media/image78.jpg"/><Relationship Id="rId32" Type="http://schemas.openxmlformats.org/officeDocument/2006/relationships/image" Target="../media/image79.jpg"/><Relationship Id="rId33" Type="http://schemas.openxmlformats.org/officeDocument/2006/relationships/image" Target="../media/image80.jpg"/><Relationship Id="rId34" Type="http://schemas.openxmlformats.org/officeDocument/2006/relationships/image" Target="../media/image81.jpg"/><Relationship Id="rId35" Type="http://schemas.openxmlformats.org/officeDocument/2006/relationships/image" Target="../media/image82.jpg"/><Relationship Id="rId36" Type="http://schemas.openxmlformats.org/officeDocument/2006/relationships/image" Target="../media/image83.jpg"/><Relationship Id="rId37" Type="http://schemas.openxmlformats.org/officeDocument/2006/relationships/image" Target="../media/image84.jpg"/><Relationship Id="rId38" Type="http://schemas.openxmlformats.org/officeDocument/2006/relationships/image" Target="../media/image85.jpg"/><Relationship Id="rId39" Type="http://schemas.openxmlformats.org/officeDocument/2006/relationships/image" Target="../media/image86.jpg"/><Relationship Id="rId40" Type="http://schemas.openxmlformats.org/officeDocument/2006/relationships/image" Target="../media/image87.jpg"/><Relationship Id="rId41" Type="http://schemas.openxmlformats.org/officeDocument/2006/relationships/image" Target="../media/image88.jpg"/><Relationship Id="rId42" Type="http://schemas.openxmlformats.org/officeDocument/2006/relationships/image" Target="../media/image8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jpg"/><Relationship Id="rId9" Type="http://schemas.openxmlformats.org/officeDocument/2006/relationships/image" Target="../media/image22.jpg"/><Relationship Id="rId10" Type="http://schemas.openxmlformats.org/officeDocument/2006/relationships/image" Target="../media/image23.jpg"/><Relationship Id="rId11" Type="http://schemas.openxmlformats.org/officeDocument/2006/relationships/image" Target="../media/image24.jpg"/><Relationship Id="rId12" Type="http://schemas.openxmlformats.org/officeDocument/2006/relationships/image" Target="../media/image25.jpg"/><Relationship Id="rId13" Type="http://schemas.openxmlformats.org/officeDocument/2006/relationships/image" Target="../media/image26.jpg"/><Relationship Id="rId14" Type="http://schemas.openxmlformats.org/officeDocument/2006/relationships/image" Target="../media/image27.jpg"/><Relationship Id="rId15" Type="http://schemas.openxmlformats.org/officeDocument/2006/relationships/image" Target="../media/image28.jpg"/><Relationship Id="rId16" Type="http://schemas.openxmlformats.org/officeDocument/2006/relationships/image" Target="../media/image29.jpg"/><Relationship Id="rId17" Type="http://schemas.openxmlformats.org/officeDocument/2006/relationships/image" Target="../media/image30.jpg"/><Relationship Id="rId18" Type="http://schemas.openxmlformats.org/officeDocument/2006/relationships/image" Target="../media/image58.jpg"/><Relationship Id="rId19" Type="http://schemas.openxmlformats.org/officeDocument/2006/relationships/image" Target="../media/image59.jpg"/><Relationship Id="rId20" Type="http://schemas.openxmlformats.org/officeDocument/2006/relationships/image" Target="../media/image60.jpg"/><Relationship Id="rId21" Type="http://schemas.openxmlformats.org/officeDocument/2006/relationships/image" Target="../media/image61.jpg"/><Relationship Id="rId22" Type="http://schemas.openxmlformats.org/officeDocument/2006/relationships/image" Target="../media/image62.jpg"/><Relationship Id="rId23" Type="http://schemas.openxmlformats.org/officeDocument/2006/relationships/image" Target="../media/image90.jpg"/><Relationship Id="rId24" Type="http://schemas.openxmlformats.org/officeDocument/2006/relationships/image" Target="../media/image91.jpg"/><Relationship Id="rId25" Type="http://schemas.openxmlformats.org/officeDocument/2006/relationships/image" Target="../media/image92.jpg"/><Relationship Id="rId26" Type="http://schemas.openxmlformats.org/officeDocument/2006/relationships/image" Target="../media/image93.jpg"/><Relationship Id="rId27" Type="http://schemas.openxmlformats.org/officeDocument/2006/relationships/image" Target="../media/image94.jpg"/><Relationship Id="rId28" Type="http://schemas.openxmlformats.org/officeDocument/2006/relationships/image" Target="../media/image95.jpg"/><Relationship Id="rId29" Type="http://schemas.openxmlformats.org/officeDocument/2006/relationships/image" Target="../media/image96.jpg"/><Relationship Id="rId30" Type="http://schemas.openxmlformats.org/officeDocument/2006/relationships/image" Target="../media/image97.jpg"/><Relationship Id="rId31" Type="http://schemas.openxmlformats.org/officeDocument/2006/relationships/image" Target="../media/image98.jpg"/><Relationship Id="rId32" Type="http://schemas.openxmlformats.org/officeDocument/2006/relationships/image" Target="../media/image99.jpg"/><Relationship Id="rId33" Type="http://schemas.openxmlformats.org/officeDocument/2006/relationships/image" Target="../media/image100.jpg"/><Relationship Id="rId34" Type="http://schemas.openxmlformats.org/officeDocument/2006/relationships/image" Target="../media/image101.jpg"/><Relationship Id="rId35" Type="http://schemas.openxmlformats.org/officeDocument/2006/relationships/image" Target="../media/image102.jpg"/><Relationship Id="rId36" Type="http://schemas.openxmlformats.org/officeDocument/2006/relationships/image" Target="../media/image103.jpg"/><Relationship Id="rId37" Type="http://schemas.openxmlformats.org/officeDocument/2006/relationships/image" Target="../media/image104.jpg"/><Relationship Id="rId38" Type="http://schemas.openxmlformats.org/officeDocument/2006/relationships/image" Target="../media/image105.jpg"/><Relationship Id="rId39" Type="http://schemas.openxmlformats.org/officeDocument/2006/relationships/image" Target="../media/image106.jpg"/><Relationship Id="rId40" Type="http://schemas.openxmlformats.org/officeDocument/2006/relationships/image" Target="../media/image107.jpg"/><Relationship Id="rId41" Type="http://schemas.openxmlformats.org/officeDocument/2006/relationships/image" Target="../media/image108.jpg"/><Relationship Id="rId42" Type="http://schemas.openxmlformats.org/officeDocument/2006/relationships/image" Target="../media/image10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Relationship Id="rId11" Type="http://schemas.openxmlformats.org/officeDocument/2006/relationships/image" Target="../media/image36.jpg"/><Relationship Id="rId12" Type="http://schemas.openxmlformats.org/officeDocument/2006/relationships/image" Target="../media/image37.jpg"/><Relationship Id="rId13" Type="http://schemas.openxmlformats.org/officeDocument/2006/relationships/image" Target="../media/image38.jpg"/><Relationship Id="rId14" Type="http://schemas.openxmlformats.org/officeDocument/2006/relationships/image" Target="../media/image39.jpg"/><Relationship Id="rId15" Type="http://schemas.openxmlformats.org/officeDocument/2006/relationships/image" Target="../media/image53.jpg"/><Relationship Id="rId16" Type="http://schemas.openxmlformats.org/officeDocument/2006/relationships/image" Target="../media/image63.jpg"/><Relationship Id="rId17" Type="http://schemas.openxmlformats.org/officeDocument/2006/relationships/image" Target="../media/image64.jpg"/><Relationship Id="rId18" Type="http://schemas.openxmlformats.org/officeDocument/2006/relationships/image" Target="../media/image65.jpg"/><Relationship Id="rId19" Type="http://schemas.openxmlformats.org/officeDocument/2006/relationships/image" Target="../media/image110.jpg"/><Relationship Id="rId20" Type="http://schemas.openxmlformats.org/officeDocument/2006/relationships/image" Target="../media/image111.jpg"/><Relationship Id="rId21" Type="http://schemas.openxmlformats.org/officeDocument/2006/relationships/image" Target="../media/image112.jpg"/><Relationship Id="rId22" Type="http://schemas.openxmlformats.org/officeDocument/2006/relationships/image" Target="../media/image113.jpg"/><Relationship Id="rId23" Type="http://schemas.openxmlformats.org/officeDocument/2006/relationships/image" Target="../media/image114.jpg"/><Relationship Id="rId24" Type="http://schemas.openxmlformats.org/officeDocument/2006/relationships/image" Target="../media/image115.jpg"/><Relationship Id="rId25" Type="http://schemas.openxmlformats.org/officeDocument/2006/relationships/image" Target="../media/image116.jpg"/><Relationship Id="rId26" Type="http://schemas.openxmlformats.org/officeDocument/2006/relationships/image" Target="../media/image117.jpg"/><Relationship Id="rId27" Type="http://schemas.openxmlformats.org/officeDocument/2006/relationships/image" Target="../media/image118.jpg"/><Relationship Id="rId28" Type="http://schemas.openxmlformats.org/officeDocument/2006/relationships/image" Target="../media/image119.jpg"/><Relationship Id="rId29" Type="http://schemas.openxmlformats.org/officeDocument/2006/relationships/image" Target="../media/image120.jpg"/><Relationship Id="rId30" Type="http://schemas.openxmlformats.org/officeDocument/2006/relationships/image" Target="../media/image121.jpg"/><Relationship Id="rId31" Type="http://schemas.openxmlformats.org/officeDocument/2006/relationships/image" Target="../media/image122.jpg"/><Relationship Id="rId32" Type="http://schemas.openxmlformats.org/officeDocument/2006/relationships/image" Target="../media/image123.jpg"/><Relationship Id="rId33" Type="http://schemas.openxmlformats.org/officeDocument/2006/relationships/image" Target="../media/image124.jpg"/><Relationship Id="rId34" Type="http://schemas.openxmlformats.org/officeDocument/2006/relationships/image" Target="../media/image12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Relationship Id="rId13" Type="http://schemas.openxmlformats.org/officeDocument/2006/relationships/image" Target="../media/image50.jpg"/><Relationship Id="rId14" Type="http://schemas.openxmlformats.org/officeDocument/2006/relationships/image" Target="../media/image51.jpg"/><Relationship Id="rId15" Type="http://schemas.openxmlformats.org/officeDocument/2006/relationships/image" Target="../media/image66.jpg"/><Relationship Id="rId16" Type="http://schemas.openxmlformats.org/officeDocument/2006/relationships/image" Target="../media/image67.jpg"/><Relationship Id="rId17" Type="http://schemas.openxmlformats.org/officeDocument/2006/relationships/image" Target="../media/image68.jpg"/><Relationship Id="rId18" Type="http://schemas.openxmlformats.org/officeDocument/2006/relationships/image" Target="../media/image69.jpg"/><Relationship Id="rId19" Type="http://schemas.openxmlformats.org/officeDocument/2006/relationships/image" Target="../media/image118.jpg"/><Relationship Id="rId20" Type="http://schemas.openxmlformats.org/officeDocument/2006/relationships/image" Target="../media/image119.jpg"/><Relationship Id="rId21" Type="http://schemas.openxmlformats.org/officeDocument/2006/relationships/image" Target="../media/image120.jpg"/><Relationship Id="rId22" Type="http://schemas.openxmlformats.org/officeDocument/2006/relationships/image" Target="../media/image121.jpg"/><Relationship Id="rId23" Type="http://schemas.openxmlformats.org/officeDocument/2006/relationships/image" Target="../media/image126.jpg"/><Relationship Id="rId24" Type="http://schemas.openxmlformats.org/officeDocument/2006/relationships/image" Target="../media/image127.jpg"/><Relationship Id="rId25" Type="http://schemas.openxmlformats.org/officeDocument/2006/relationships/image" Target="../media/image128.jpg"/><Relationship Id="rId26" Type="http://schemas.openxmlformats.org/officeDocument/2006/relationships/image" Target="../media/image129.jpg"/><Relationship Id="rId27" Type="http://schemas.openxmlformats.org/officeDocument/2006/relationships/image" Target="../media/image130.jpg"/><Relationship Id="rId28" Type="http://schemas.openxmlformats.org/officeDocument/2006/relationships/image" Target="../media/image131.jpg"/><Relationship Id="rId29" Type="http://schemas.openxmlformats.org/officeDocument/2006/relationships/image" Target="../media/image132.jpg"/><Relationship Id="rId30" Type="http://schemas.openxmlformats.org/officeDocument/2006/relationships/image" Target="../media/image133.jpg"/><Relationship Id="rId31" Type="http://schemas.openxmlformats.org/officeDocument/2006/relationships/image" Target="../media/image134.jpg"/><Relationship Id="rId32" Type="http://schemas.openxmlformats.org/officeDocument/2006/relationships/image" Target="../media/image135.jpg"/><Relationship Id="rId33" Type="http://schemas.openxmlformats.org/officeDocument/2006/relationships/image" Target="../media/image136.jpg"/><Relationship Id="rId34" Type="http://schemas.openxmlformats.org/officeDocument/2006/relationships/image" Target="../media/image13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83F"/>
                </a:solidFill>
                <a:latin typeface="Arial"/>
              </a:defRPr>
            </a:pPr>
            <a:r>
              <a:t>Fine-tuning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</p:spPr>
        <p:txBody>
          <a:bodyPr wrap="square" tIns="0" lIns="0" r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26478"/>
                </a:solidFill>
                <a:latin typeface="Arial"/>
              </a:defRPr>
            </a:pPr>
            <a:r>
              <a:t>Start from the official WiLoR checkpoint; adapt to Gaussian Hand Display glove videos.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5413248" cy="3383280"/>
          </a:xfrm>
          <a:prstGeom prst="rect">
            <a:avLst/>
          </a:prstGeom>
          <a:solidFill>
            <a:srgbClr val="F0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5029200" cy="411480"/>
          </a:xfrm>
          <a:prstGeom prst="rect">
            <a:avLst/>
          </a:prstGeom>
          <a:noFill/>
        </p:spPr>
        <p:txBody>
          <a:bodyPr wrap="square" tIns="0" lIns="0" r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007F86"/>
                </a:solidFill>
                <a:latin typeface="Arial"/>
              </a:defRPr>
            </a:pPr>
            <a:r>
              <a:t>Data and training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5029200" cy="2468880"/>
          </a:xfrm>
          <a:prstGeom prst="rect">
            <a:avLst/>
          </a:prstGeom>
          <a:noFill/>
        </p:spPr>
        <p:txBody>
          <a:bodyPr wrap="square" tIns="0" lIns="0" r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4283F"/>
                </a:solidFill>
                <a:latin typeface="Arial"/>
              </a:defRPr>
            </a:pPr>
            <a:r>
              <a:t>12 videos, split by recording: 8 train / 2 val / 2 test</a:t>
            </a:r>
          </a:p>
          <a:p>
            <a:pPr>
              <a:spcAft>
                <a:spcPts val="700"/>
              </a:spcAft>
              <a:defRPr sz="1700" b="0">
                <a:solidFill>
                  <a:srgbClr val="14283F"/>
                </a:solidFill>
                <a:latin typeface="Arial"/>
              </a:defRPr>
            </a:pPr>
            <a:r>
              <a:t>Hand samples: 1,672 train / 384 val / 517 test</a:t>
            </a:r>
          </a:p>
          <a:p>
            <a:pPr>
              <a:spcAft>
                <a:spcPts val="700"/>
              </a:spcAft>
              <a:defRPr sz="1700" b="0">
                <a:solidFill>
                  <a:srgbClr val="14283F"/>
                </a:solidFill>
                <a:latin typeface="Arial"/>
              </a:defRPr>
            </a:pPr>
            <a:r>
              <a:t>Batch size: 16 total; one GPU (GPU 5)</a:t>
            </a:r>
          </a:p>
          <a:p>
            <a:pPr>
              <a:spcAft>
                <a:spcPts val="700"/>
              </a:spcAft>
              <a:defRPr sz="1700" b="0">
                <a:solidFill>
                  <a:srgbClr val="14283F"/>
                </a:solidFill>
                <a:latin typeface="Arial"/>
              </a:defRPr>
            </a:pPr>
            <a:r>
              <a:t>10 epochs / 1,050 optimizer updates</a:t>
            </a:r>
          </a:p>
          <a:p>
            <a:pPr>
              <a:spcAft>
                <a:spcPts val="700"/>
              </a:spcAft>
              <a:defRPr sz="1700" b="0">
                <a:solidFill>
                  <a:srgbClr val="14283F"/>
                </a:solidFill>
                <a:latin typeface="Arial"/>
              </a:defRPr>
            </a:pPr>
            <a:r>
              <a:t>Selected: epoch 9 / step 945, by validation MPJPE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413248" cy="3383280"/>
          </a:xfrm>
          <a:prstGeom prst="rect">
            <a:avLst/>
          </a:prstGeom>
          <a:solidFill>
            <a:srgbClr val="F0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19"/>
            <a:ext cx="5029200" cy="411480"/>
          </a:xfrm>
          <a:prstGeom prst="rect">
            <a:avLst/>
          </a:prstGeom>
          <a:noFill/>
        </p:spPr>
        <p:txBody>
          <a:bodyPr wrap="square" tIns="0" lIns="0" r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007F86"/>
                </a:solidFill>
                <a:latin typeface="Arial"/>
              </a:defRPr>
            </a:pPr>
            <a:r>
              <a:t>What we updated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468880"/>
            <a:ext cx="5029200" cy="2468880"/>
          </a:xfrm>
          <a:prstGeom prst="rect">
            <a:avLst/>
          </a:prstGeom>
          <a:noFill/>
        </p:spPr>
        <p:txBody>
          <a:bodyPr wrap="square" tIns="0" lIns="0" r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4283F"/>
                </a:solidFill>
                <a:latin typeface="Arial"/>
              </a:defRPr>
            </a:pPr>
            <a:r>
              <a:t>Trainable: backbone + RefineNet</a:t>
            </a:r>
          </a:p>
          <a:p>
            <a:pPr>
              <a:spcAft>
                <a:spcPts val="700"/>
              </a:spcAft>
              <a:defRPr sz="1700" b="0">
                <a:solidFill>
                  <a:srgbClr val="14283F"/>
                </a:solidFill>
                <a:latin typeface="Arial"/>
              </a:defRPr>
            </a:pPr>
            <a:r>
              <a:t>Learning rates: backbone 1e-6; RefineNet 1e-5</a:t>
            </a:r>
          </a:p>
          <a:p>
            <a:pPr>
              <a:spcAft>
                <a:spcPts val="700"/>
              </a:spcAft>
              <a:defRPr sz="1700" b="0">
                <a:solidFill>
                  <a:srgbClr val="14283F"/>
                </a:solidFill>
                <a:latin typeface="Arial"/>
              </a:defRPr>
            </a:pPr>
            <a:r>
              <a:t>AdamW; weight decay 1e-4; gradient clip 1.0</a:t>
            </a:r>
          </a:p>
          <a:p>
            <a:pPr>
              <a:spcAft>
                <a:spcPts val="700"/>
              </a:spcAft>
              <a:defRPr sz="1700" b="0">
                <a:solidFill>
                  <a:srgbClr val="14283F"/>
                </a:solidFill>
                <a:latin typeface="Arial"/>
              </a:defRPr>
            </a:pPr>
            <a:r>
              <a:t>Supervised losses only; discriminator frozen</a:t>
            </a:r>
          </a:p>
          <a:p>
            <a:pPr>
              <a:spcAft>
                <a:spcPts val="700"/>
              </a:spcAft>
              <a:defRPr sz="1700" b="0">
                <a:solidFill>
                  <a:srgbClr val="14283F"/>
                </a:solidFill>
                <a:latin typeface="Arial"/>
              </a:defRPr>
            </a:pPr>
            <a:r>
              <a:t>Left-hand shape (betas) supervision disabled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349240"/>
            <a:ext cx="10972800" cy="640080"/>
          </a:xfrm>
          <a:prstGeom prst="rect">
            <a:avLst/>
          </a:prstGeom>
          <a:noFill/>
        </p:spPr>
        <p:txBody>
          <a:bodyPr wrap="square" tIns="0" lIns="0" r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26478"/>
                </a:solidFill>
                <a:latin typeface="Arial"/>
              </a:defRPr>
            </a:pPr>
            <a:r>
              <a:t>Augmentation: scale 0.15, rotation 15°, color 0.10; no random horizontal flip.</a:t>
            </a:r>
          </a:p>
          <a:p>
            <a:pPr>
              <a:spcAft>
                <a:spcPts val="700"/>
              </a:spcAft>
              <a:defRPr sz="1700" b="0">
                <a:solidFill>
                  <a:srgbClr val="526478"/>
                </a:solidFill>
                <a:latin typeface="Arial"/>
              </a:defRPr>
            </a:pPr>
            <a:r>
              <a:t>DropPath 0.10; FP32; no gradient accumulation.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172200"/>
            <a:ext cx="10972800" cy="320040"/>
          </a:xfrm>
          <a:prstGeom prst="rect">
            <a:avLst/>
          </a:prstGeom>
          <a:noFill/>
        </p:spPr>
        <p:txBody>
          <a:bodyPr wrap="square" tIns="0" lIns="0" r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526478"/>
                </a:solidFill>
                <a:latin typeface="Arial"/>
              </a:defRPr>
            </a:pPr>
            <a:r>
              <a:t>Crop geometry: square box ×1.25 → 256×256. Formal fine-tuning restarted from official weights after the smoke test.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800" b="1">
                <a:solidFill>
                  <a:srgbClr val="14283F"/>
                </a:solidFill>
                <a:latin typeface="Arial"/>
              </a:defRPr>
            </a:pPr>
            <a:r>
              <a:t>Test-set results | Mean 2D joint reprojection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0">
                <a:solidFill>
                  <a:srgbClr val="526478"/>
                </a:solidFill>
                <a:latin typeface="Arial"/>
              </a:defRPr>
            </a:pPr>
            <a:r>
              <a:t>Fixed epoch-9 checkpoint and square 1.25 crop; the same detected boxes are used for both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3657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14283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337560" cy="1737360"/>
          </a:xfrm>
          <a:prstGeom prst="rect">
            <a:avLst/>
          </a:prstGeom>
          <a:solidFill>
            <a:srgbClr val="F0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2971800" cy="3657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100" b="1">
                <a:solidFill>
                  <a:srgbClr val="DB7D29"/>
                </a:solidFill>
                <a:latin typeface="Arial"/>
              </a:defRPr>
            </a:pPr>
            <a:r>
              <a:t>Official WiLoR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2971800" cy="685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3800" b="1">
                <a:solidFill>
                  <a:srgbClr val="DB7D29"/>
                </a:solidFill>
                <a:latin typeface="Arial"/>
              </a:defRPr>
            </a:pPr>
            <a:r>
              <a:t>30.4 px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783080"/>
            <a:ext cx="3337560" cy="1737360"/>
          </a:xfrm>
          <a:prstGeom prst="rect">
            <a:avLst/>
          </a:prstGeom>
          <a:solidFill>
            <a:srgbClr val="F0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75104"/>
            <a:ext cx="2971800" cy="3657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100" b="1">
                <a:solidFill>
                  <a:srgbClr val="218BC4"/>
                </a:solidFill>
                <a:latin typeface="Arial"/>
              </a:defRPr>
            </a:pPr>
            <a:r>
              <a:t>Fine-tuned WiLoR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2971800" cy="685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3800" b="1">
                <a:solidFill>
                  <a:srgbClr val="218BC4"/>
                </a:solidFill>
                <a:latin typeface="Arial"/>
              </a:defRPr>
            </a:pPr>
            <a:r>
              <a:t>23.7 px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783080"/>
            <a:ext cx="3337560" cy="1737360"/>
          </a:xfrm>
          <a:prstGeom prst="rect">
            <a:avLst/>
          </a:prstGeom>
          <a:solidFill>
            <a:srgbClr val="F0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75104"/>
            <a:ext cx="2971800" cy="3657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100" b="1">
                <a:solidFill>
                  <a:srgbClr val="007F86"/>
                </a:solidFill>
                <a:latin typeface="Arial"/>
              </a:defRPr>
            </a:pPr>
            <a:r>
              <a:t>Error reduction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560320"/>
            <a:ext cx="2971800" cy="685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3800" b="1">
                <a:solidFill>
                  <a:srgbClr val="007F86"/>
                </a:solidFill>
                <a:latin typeface="Arial"/>
              </a:defRPr>
            </a:pPr>
            <a:r>
              <a:t>22.2%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931920"/>
            <a:ext cx="10972800" cy="457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300" b="1">
                <a:solidFill>
                  <a:srgbClr val="007F86"/>
                </a:solidFill>
                <a:latin typeface="Arial"/>
              </a:defRPr>
            </a:pPr>
            <a:r>
              <a:t>Lower mean test error does not imply improvement in every frame.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663440"/>
            <a:ext cx="10972800" cy="457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100" b="0">
                <a:solidFill>
                  <a:srgbClr val="14283F"/>
                </a:solidFill>
                <a:latin typeface="Arial"/>
              </a:defRPr>
            </a:pPr>
            <a:r>
              <a:t>3D MPJPE: 20.41 → 7.94 mm (wrist-aligned)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67528"/>
            <a:ext cx="10972800" cy="5943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600" b="0">
                <a:solidFill>
                  <a:srgbClr val="526478"/>
                </a:solidFill>
                <a:latin typeface="Arial"/>
              </a:defRPr>
            </a:pPr>
            <a:r>
              <a:t>Test: 517 hand samples from 2 held-out recordings; 488 matched, 29 unmatched.</a:t>
            </a:r>
          </a:p>
          <a:p>
            <a:pPr>
              <a:defRPr sz="1600" b="0">
                <a:solidFill>
                  <a:srgbClr val="526478"/>
                </a:solidFill>
                <a:latin typeface="Arial"/>
              </a:defRPr>
            </a:pPr>
            <a:r>
              <a:t>Means exclude unmatched samples. No test samples used for gradient updates or checkpoint selection.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190488"/>
            <a:ext cx="1097280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0">
                <a:solidFill>
                  <a:srgbClr val="526478"/>
                </a:solidFill>
                <a:latin typeface="Arial"/>
              </a:defRPr>
            </a:pPr>
            <a:r>
              <a:t>Reference: dataset-fitted MANO joints. Earlier test outputs were inspected; crop settings were selected on validation.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83F"/>
                </a:solidFill>
                <a:latin typeface="Arial"/>
              </a:defRPr>
            </a:pPr>
            <a:r>
              <a:t>Training loss and pose-estimation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</p:spPr>
        <p:txBody>
          <a:bodyPr wrap="square" tIns="0" lIns="0" r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26478"/>
                </a:solidFill>
                <a:latin typeface="Arial"/>
              </a:defRPr>
            </a:pPr>
            <a:r>
              <a:t>Lower is better. Pose-estimation errors replace classification accuracy for this task.</a:t>
            </a:r>
          </a:p>
        </p:txBody>
      </p:sp>
      <p:pic>
        <p:nvPicPr>
          <p:cNvPr id="5" name="Picture 4" descr="finetune_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272" y="1307592"/>
            <a:ext cx="7836408" cy="5166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501384"/>
            <a:ext cx="10972800" cy="210312"/>
          </a:xfrm>
          <a:prstGeom prst="rect">
            <a:avLst/>
          </a:prstGeom>
          <a:noFill/>
        </p:spPr>
        <p:txBody>
          <a:bodyPr wrap="square" tIns="0" lIns="0" r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26478"/>
                </a:solidFill>
                <a:latin typeface="Arial"/>
              </a:defRPr>
            </a:pPr>
            <a:r>
              <a:t>Train error: measured before training and at the selected checkpoint only. Validation error: recorded every epoch.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800" b="1">
                <a:solidFill>
                  <a:srgbClr val="14283F"/>
                </a:solidFill>
                <a:latin typeface="Arial"/>
              </a:defRPr>
            </a:pPr>
            <a:r>
              <a:t>Random test samples 1–5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0">
                <a:solidFill>
                  <a:srgbClr val="526478"/>
                </a:solidFill>
                <a:latin typeface="Arial"/>
              </a:defRPr>
            </a:pPr>
            <a:r>
              <a:t>Random matched test hand samples; seed 42; lower pixel error is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3657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14283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88366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526478"/>
                </a:solidFill>
                <a:latin typeface="Arial"/>
              </a:defRPr>
            </a:pPr>
            <a:r>
              <a:t>Raw 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7238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278632"/>
                </a:solidFill>
                <a:latin typeface="Arial"/>
              </a:defRPr>
            </a:pPr>
            <a:r>
              <a:t>Dataset</a:t>
            </a:r>
          </a:p>
          <a:p>
            <a:pPr>
              <a:defRPr sz="1500" b="1">
                <a:solidFill>
                  <a:srgbClr val="278632"/>
                </a:solidFill>
                <a:latin typeface="Arial"/>
              </a:defRPr>
            </a:pPr>
            <a:r>
              <a:t>annotation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26110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DB7D29"/>
                </a:solidFill>
                <a:latin typeface="Arial"/>
              </a:defRPr>
            </a:pPr>
            <a:r>
              <a:t>Official</a:t>
            </a:r>
          </a:p>
          <a:p>
            <a:pPr>
              <a:defRPr sz="1500" b="1">
                <a:solidFill>
                  <a:srgbClr val="DB7D29"/>
                </a:solidFill>
                <a:latin typeface="Arial"/>
              </a:defRPr>
            </a:pPr>
            <a:r>
              <a:t>WiLoR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44982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218BC4"/>
                </a:solidFill>
                <a:latin typeface="Arial"/>
              </a:defRPr>
            </a:pPr>
            <a:r>
              <a:t>Fine-tuned</a:t>
            </a:r>
          </a:p>
          <a:p>
            <a:pPr>
              <a:defRPr sz="1500" b="1">
                <a:solidFill>
                  <a:srgbClr val="218BC4"/>
                </a:solidFill>
                <a:latin typeface="Arial"/>
              </a:defRPr>
            </a:pPr>
            <a:r>
              <a:t>WiLoR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325880"/>
            <a:ext cx="192024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S035 | F132 | L</a:t>
            </a:r>
          </a:p>
        </p:txBody>
      </p:sp>
      <p:pic>
        <p:nvPicPr>
          <p:cNvPr id="11" name="Picture 10" descr="41_original.jp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01368" y="1554480"/>
            <a:ext cx="1024128" cy="1024128"/>
          </a:xfrm>
          <a:prstGeom prst="rect">
            <a:avLst/>
          </a:prstGeom>
        </p:spPr>
      </p:pic>
      <p:pic>
        <p:nvPicPr>
          <p:cNvPr id="12" name="Picture 11" descr="41_annotation.jp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01368" y="2743200"/>
            <a:ext cx="1024128" cy="1024128"/>
          </a:xfrm>
          <a:prstGeom prst="rect">
            <a:avLst/>
          </a:prstGeom>
        </p:spPr>
      </p:pic>
      <p:pic>
        <p:nvPicPr>
          <p:cNvPr id="13" name="Picture 12" descr="41_official.jp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01368" y="3931920"/>
            <a:ext cx="1024128" cy="1024128"/>
          </a:xfrm>
          <a:prstGeom prst="rect">
            <a:avLst/>
          </a:prstGeom>
        </p:spPr>
      </p:pic>
      <p:pic>
        <p:nvPicPr>
          <p:cNvPr id="14" name="Picture 13" descr="41_finetuned.jp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801368" y="5120640"/>
            <a:ext cx="1024128" cy="1024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0136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15.7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136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9.8 px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1325880"/>
            <a:ext cx="192024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S038 | F438 | R</a:t>
            </a:r>
          </a:p>
        </p:txBody>
      </p:sp>
      <p:pic>
        <p:nvPicPr>
          <p:cNvPr id="18" name="Picture 17" descr="389_original.jp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904488" y="1554480"/>
            <a:ext cx="1024128" cy="1024128"/>
          </a:xfrm>
          <a:prstGeom prst="rect">
            <a:avLst/>
          </a:prstGeom>
        </p:spPr>
      </p:pic>
      <p:pic>
        <p:nvPicPr>
          <p:cNvPr id="19" name="Picture 18" descr="389_annotation.jp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904488" y="2743200"/>
            <a:ext cx="1024128" cy="1024128"/>
          </a:xfrm>
          <a:prstGeom prst="rect">
            <a:avLst/>
          </a:prstGeom>
        </p:spPr>
      </p:pic>
      <p:pic>
        <p:nvPicPr>
          <p:cNvPr id="20" name="Picture 19" descr="389_official.jp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04488" y="3931920"/>
            <a:ext cx="1024128" cy="1024128"/>
          </a:xfrm>
          <a:prstGeom prst="rect">
            <a:avLst/>
          </a:prstGeom>
        </p:spPr>
      </p:pic>
      <p:pic>
        <p:nvPicPr>
          <p:cNvPr id="21" name="Picture 20" descr="389_finetuned.jp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904488" y="5120640"/>
            <a:ext cx="1024128" cy="10241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90448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27.3 px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448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23.8 px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1325880"/>
            <a:ext cx="192024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S035 | F132 | R</a:t>
            </a:r>
          </a:p>
        </p:txBody>
      </p:sp>
      <p:pic>
        <p:nvPicPr>
          <p:cNvPr id="25" name="Picture 24" descr="42_original.jp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007608" y="1554480"/>
            <a:ext cx="1024128" cy="1024128"/>
          </a:xfrm>
          <a:prstGeom prst="rect">
            <a:avLst/>
          </a:prstGeom>
        </p:spPr>
      </p:pic>
      <p:pic>
        <p:nvPicPr>
          <p:cNvPr id="26" name="Picture 25" descr="42_annotation.jp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007608" y="2743200"/>
            <a:ext cx="1024128" cy="1024128"/>
          </a:xfrm>
          <a:prstGeom prst="rect">
            <a:avLst/>
          </a:prstGeom>
        </p:spPr>
      </p:pic>
      <p:pic>
        <p:nvPicPr>
          <p:cNvPr id="27" name="Picture 26" descr="42_official.jp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007608" y="3931920"/>
            <a:ext cx="1024128" cy="1024128"/>
          </a:xfrm>
          <a:prstGeom prst="rect">
            <a:avLst/>
          </a:prstGeom>
        </p:spPr>
      </p:pic>
      <p:pic>
        <p:nvPicPr>
          <p:cNvPr id="28" name="Picture 27" descr="42_finetuned.jp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007608" y="5120640"/>
            <a:ext cx="1024128" cy="10241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0760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13.7 px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14.9 px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62672" y="1325880"/>
            <a:ext cx="192024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S038 | F258 | L</a:t>
            </a:r>
          </a:p>
        </p:txBody>
      </p:sp>
      <p:pic>
        <p:nvPicPr>
          <p:cNvPr id="32" name="Picture 31" descr="329_original.jp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110728" y="1554480"/>
            <a:ext cx="1024128" cy="1024128"/>
          </a:xfrm>
          <a:prstGeom prst="rect">
            <a:avLst/>
          </a:prstGeom>
        </p:spPr>
      </p:pic>
      <p:pic>
        <p:nvPicPr>
          <p:cNvPr id="33" name="Picture 32" descr="329_annotation.jp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110728" y="2743200"/>
            <a:ext cx="1024128" cy="1024128"/>
          </a:xfrm>
          <a:prstGeom prst="rect">
            <a:avLst/>
          </a:prstGeom>
        </p:spPr>
      </p:pic>
      <p:pic>
        <p:nvPicPr>
          <p:cNvPr id="34" name="Picture 33" descr="329_official.jp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110728" y="3931920"/>
            <a:ext cx="1024128" cy="1024128"/>
          </a:xfrm>
          <a:prstGeom prst="rect">
            <a:avLst/>
          </a:prstGeom>
        </p:spPr>
      </p:pic>
      <p:pic>
        <p:nvPicPr>
          <p:cNvPr id="35" name="Picture 34" descr="329_finetuned.jp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110728" y="5120640"/>
            <a:ext cx="1024128" cy="102412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11072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29.2 px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072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29.0 px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1325880"/>
            <a:ext cx="192024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S035 | F678 | R</a:t>
            </a:r>
          </a:p>
        </p:txBody>
      </p:sp>
      <p:pic>
        <p:nvPicPr>
          <p:cNvPr id="39" name="Picture 38" descr="220_original.jp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0213848" y="1554480"/>
            <a:ext cx="1024128" cy="1024128"/>
          </a:xfrm>
          <a:prstGeom prst="rect">
            <a:avLst/>
          </a:prstGeom>
        </p:spPr>
      </p:pic>
      <p:pic>
        <p:nvPicPr>
          <p:cNvPr id="40" name="Picture 39" descr="220_annotation.jp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0213848" y="2743200"/>
            <a:ext cx="1024128" cy="1024128"/>
          </a:xfrm>
          <a:prstGeom prst="rect">
            <a:avLst/>
          </a:prstGeom>
        </p:spPr>
      </p:pic>
      <p:pic>
        <p:nvPicPr>
          <p:cNvPr id="41" name="Picture 40" descr="220_official.jp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213848" y="3931920"/>
            <a:ext cx="1024128" cy="1024128"/>
          </a:xfrm>
          <a:prstGeom prst="rect">
            <a:avLst/>
          </a:prstGeom>
        </p:spPr>
      </p:pic>
      <p:pic>
        <p:nvPicPr>
          <p:cNvPr id="42" name="Picture 41" descr="220_finetuned.jp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213848" y="5120640"/>
            <a:ext cx="1024128" cy="10241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21384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12.1 px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1384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13.7 px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391656"/>
            <a:ext cx="10789920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0">
                <a:solidFill>
                  <a:srgbClr val="526478"/>
                </a:solidFill>
                <a:latin typeface="Arial"/>
              </a:defRPr>
            </a:pPr>
            <a:r>
              <a:t>Test set only | Identical frame and display crop | Dataset annotation is a fitted MANO reference.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800" b="1">
                <a:solidFill>
                  <a:srgbClr val="14283F"/>
                </a:solidFill>
                <a:latin typeface="Arial"/>
              </a:defRPr>
            </a:pPr>
            <a:r>
              <a:t>Random test samples 6–10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0">
                <a:solidFill>
                  <a:srgbClr val="526478"/>
                </a:solidFill>
                <a:latin typeface="Arial"/>
              </a:defRPr>
            </a:pPr>
            <a:r>
              <a:t>Random matched test hand samples; seed 42; lower pixel error is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3657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14283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88366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526478"/>
                </a:solidFill>
                <a:latin typeface="Arial"/>
              </a:defRPr>
            </a:pPr>
            <a:r>
              <a:t>Raw 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7238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278632"/>
                </a:solidFill>
                <a:latin typeface="Arial"/>
              </a:defRPr>
            </a:pPr>
            <a:r>
              <a:t>Dataset</a:t>
            </a:r>
          </a:p>
          <a:p>
            <a:pPr>
              <a:defRPr sz="1500" b="1">
                <a:solidFill>
                  <a:srgbClr val="278632"/>
                </a:solidFill>
                <a:latin typeface="Arial"/>
              </a:defRPr>
            </a:pPr>
            <a:r>
              <a:t>annotation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26110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DB7D29"/>
                </a:solidFill>
                <a:latin typeface="Arial"/>
              </a:defRPr>
            </a:pPr>
            <a:r>
              <a:t>Official</a:t>
            </a:r>
          </a:p>
          <a:p>
            <a:pPr>
              <a:defRPr sz="1500" b="1">
                <a:solidFill>
                  <a:srgbClr val="DB7D29"/>
                </a:solidFill>
                <a:latin typeface="Arial"/>
              </a:defRPr>
            </a:pPr>
            <a:r>
              <a:t>WiLoR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44982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218BC4"/>
                </a:solidFill>
                <a:latin typeface="Arial"/>
              </a:defRPr>
            </a:pPr>
            <a:r>
              <a:t>Fine-tuned</a:t>
            </a:r>
          </a:p>
          <a:p>
            <a:pPr>
              <a:defRPr sz="1500" b="1">
                <a:solidFill>
                  <a:srgbClr val="218BC4"/>
                </a:solidFill>
                <a:latin typeface="Arial"/>
              </a:defRPr>
            </a:pPr>
            <a:r>
              <a:t>WiLoR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325880"/>
            <a:ext cx="192024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S035 | F672 | R</a:t>
            </a:r>
          </a:p>
        </p:txBody>
      </p:sp>
      <p:pic>
        <p:nvPicPr>
          <p:cNvPr id="11" name="Picture 10" descr="218_original.jp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01368" y="1554480"/>
            <a:ext cx="1024128" cy="1024128"/>
          </a:xfrm>
          <a:prstGeom prst="rect">
            <a:avLst/>
          </a:prstGeom>
        </p:spPr>
      </p:pic>
      <p:pic>
        <p:nvPicPr>
          <p:cNvPr id="12" name="Picture 11" descr="218_annotation.jp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01368" y="2743200"/>
            <a:ext cx="1024128" cy="1024128"/>
          </a:xfrm>
          <a:prstGeom prst="rect">
            <a:avLst/>
          </a:prstGeom>
        </p:spPr>
      </p:pic>
      <p:pic>
        <p:nvPicPr>
          <p:cNvPr id="13" name="Picture 12" descr="218_official.jp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01368" y="3931920"/>
            <a:ext cx="1024128" cy="1024128"/>
          </a:xfrm>
          <a:prstGeom prst="rect">
            <a:avLst/>
          </a:prstGeom>
        </p:spPr>
      </p:pic>
      <p:pic>
        <p:nvPicPr>
          <p:cNvPr id="14" name="Picture 13" descr="218_finetuned.jp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801368" y="5120640"/>
            <a:ext cx="1024128" cy="1024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0136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14.2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136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12.5 px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1325880"/>
            <a:ext cx="192024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S038 | F336 | L</a:t>
            </a:r>
          </a:p>
        </p:txBody>
      </p:sp>
      <p:pic>
        <p:nvPicPr>
          <p:cNvPr id="18" name="Picture 17" descr="354_original.jp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904488" y="1554480"/>
            <a:ext cx="1024128" cy="1024128"/>
          </a:xfrm>
          <a:prstGeom prst="rect">
            <a:avLst/>
          </a:prstGeom>
        </p:spPr>
      </p:pic>
      <p:pic>
        <p:nvPicPr>
          <p:cNvPr id="19" name="Picture 18" descr="354_annotation.jp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904488" y="2743200"/>
            <a:ext cx="1024128" cy="1024128"/>
          </a:xfrm>
          <a:prstGeom prst="rect">
            <a:avLst/>
          </a:prstGeom>
        </p:spPr>
      </p:pic>
      <p:pic>
        <p:nvPicPr>
          <p:cNvPr id="20" name="Picture 19" descr="354_official.jp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04488" y="3931920"/>
            <a:ext cx="1024128" cy="1024128"/>
          </a:xfrm>
          <a:prstGeom prst="rect">
            <a:avLst/>
          </a:prstGeom>
        </p:spPr>
      </p:pic>
      <p:pic>
        <p:nvPicPr>
          <p:cNvPr id="21" name="Picture 20" descr="354_finetuned.jp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904488" y="5120640"/>
            <a:ext cx="1024128" cy="10241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90448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32.0 px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448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30.4 px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1325880"/>
            <a:ext cx="192024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S035 | F144 | L</a:t>
            </a:r>
          </a:p>
        </p:txBody>
      </p:sp>
      <p:pic>
        <p:nvPicPr>
          <p:cNvPr id="25" name="Picture 24" descr="45_original.jp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007608" y="1554480"/>
            <a:ext cx="1024128" cy="1024128"/>
          </a:xfrm>
          <a:prstGeom prst="rect">
            <a:avLst/>
          </a:prstGeom>
        </p:spPr>
      </p:pic>
      <p:pic>
        <p:nvPicPr>
          <p:cNvPr id="26" name="Picture 25" descr="45_annotation.jp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007608" y="2743200"/>
            <a:ext cx="1024128" cy="1024128"/>
          </a:xfrm>
          <a:prstGeom prst="rect">
            <a:avLst/>
          </a:prstGeom>
        </p:spPr>
      </p:pic>
      <p:pic>
        <p:nvPicPr>
          <p:cNvPr id="27" name="Picture 26" descr="45_official.jp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007608" y="3931920"/>
            <a:ext cx="1024128" cy="1024128"/>
          </a:xfrm>
          <a:prstGeom prst="rect">
            <a:avLst/>
          </a:prstGeom>
        </p:spPr>
      </p:pic>
      <p:pic>
        <p:nvPicPr>
          <p:cNvPr id="28" name="Picture 27" descr="45_finetuned.jp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007608" y="5120640"/>
            <a:ext cx="1024128" cy="10241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0760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15.4 px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9.7 px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62672" y="1325880"/>
            <a:ext cx="192024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S035 | F306 | L</a:t>
            </a:r>
          </a:p>
        </p:txBody>
      </p:sp>
      <p:pic>
        <p:nvPicPr>
          <p:cNvPr id="32" name="Picture 31" descr="99_original.jp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110728" y="1554480"/>
            <a:ext cx="1024128" cy="1024128"/>
          </a:xfrm>
          <a:prstGeom prst="rect">
            <a:avLst/>
          </a:prstGeom>
        </p:spPr>
      </p:pic>
      <p:pic>
        <p:nvPicPr>
          <p:cNvPr id="33" name="Picture 32" descr="99_annotation.jp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110728" y="2743200"/>
            <a:ext cx="1024128" cy="1024128"/>
          </a:xfrm>
          <a:prstGeom prst="rect">
            <a:avLst/>
          </a:prstGeom>
        </p:spPr>
      </p:pic>
      <p:pic>
        <p:nvPicPr>
          <p:cNvPr id="34" name="Picture 33" descr="99_official.jp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110728" y="3931920"/>
            <a:ext cx="1024128" cy="1024128"/>
          </a:xfrm>
          <a:prstGeom prst="rect">
            <a:avLst/>
          </a:prstGeom>
        </p:spPr>
      </p:pic>
      <p:pic>
        <p:nvPicPr>
          <p:cNvPr id="35" name="Picture 34" descr="99_finetuned.jp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110728" y="5120640"/>
            <a:ext cx="1024128" cy="102412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11072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16.7 px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072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13.0 px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1325880"/>
            <a:ext cx="192024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S038 | F606 | R</a:t>
            </a:r>
          </a:p>
        </p:txBody>
      </p:sp>
      <p:pic>
        <p:nvPicPr>
          <p:cNvPr id="39" name="Picture 38" descr="442_original.jp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0213848" y="1554480"/>
            <a:ext cx="1024128" cy="1024128"/>
          </a:xfrm>
          <a:prstGeom prst="rect">
            <a:avLst/>
          </a:prstGeom>
        </p:spPr>
      </p:pic>
      <p:pic>
        <p:nvPicPr>
          <p:cNvPr id="40" name="Picture 39" descr="442_annotation.jp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0213848" y="2743200"/>
            <a:ext cx="1024128" cy="1024128"/>
          </a:xfrm>
          <a:prstGeom prst="rect">
            <a:avLst/>
          </a:prstGeom>
        </p:spPr>
      </p:pic>
      <p:pic>
        <p:nvPicPr>
          <p:cNvPr id="41" name="Picture 40" descr="442_official.jp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213848" y="3931920"/>
            <a:ext cx="1024128" cy="1024128"/>
          </a:xfrm>
          <a:prstGeom prst="rect">
            <a:avLst/>
          </a:prstGeom>
        </p:spPr>
      </p:pic>
      <p:pic>
        <p:nvPicPr>
          <p:cNvPr id="42" name="Picture 41" descr="442_finetuned.jp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213848" y="5120640"/>
            <a:ext cx="1024128" cy="10241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21384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43.8 px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1384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12.8 px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391656"/>
            <a:ext cx="10789920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0">
                <a:solidFill>
                  <a:srgbClr val="526478"/>
                </a:solidFill>
                <a:latin typeface="Arial"/>
              </a:defRPr>
            </a:pPr>
            <a:r>
              <a:t>Test set only | Identical frame and display crop | Dataset annotation is a fitted MANO reference.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800" b="1">
                <a:solidFill>
                  <a:srgbClr val="14283F"/>
                </a:solidFill>
                <a:latin typeface="Arial"/>
              </a:defRPr>
            </a:pPr>
            <a:r>
              <a:t>Official WiLoR worst test cases | Fine-tuning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0">
                <a:solidFill>
                  <a:srgbClr val="526478"/>
                </a:solidFill>
                <a:latin typeface="Arial"/>
              </a:defRPr>
            </a:pPr>
            <a:r>
              <a:t>Ranked by the named model’s test error; examples are at least 1 second apart within each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3657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14283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88366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526478"/>
                </a:solidFill>
                <a:latin typeface="Arial"/>
              </a:defRPr>
            </a:pPr>
            <a:r>
              <a:t>Raw 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7238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278632"/>
                </a:solidFill>
                <a:latin typeface="Arial"/>
              </a:defRPr>
            </a:pPr>
            <a:r>
              <a:t>Dataset</a:t>
            </a:r>
          </a:p>
          <a:p>
            <a:pPr>
              <a:defRPr sz="1500" b="1">
                <a:solidFill>
                  <a:srgbClr val="278632"/>
                </a:solidFill>
                <a:latin typeface="Arial"/>
              </a:defRPr>
            </a:pPr>
            <a:r>
              <a:t>annotation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26110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DB7D29"/>
                </a:solidFill>
                <a:latin typeface="Arial"/>
              </a:defRPr>
            </a:pPr>
            <a:r>
              <a:t>Official</a:t>
            </a:r>
          </a:p>
          <a:p>
            <a:pPr>
              <a:defRPr sz="1500" b="1">
                <a:solidFill>
                  <a:srgbClr val="DB7D29"/>
                </a:solidFill>
                <a:latin typeface="Arial"/>
              </a:defRPr>
            </a:pPr>
            <a:r>
              <a:t>WiLoR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44982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218BC4"/>
                </a:solidFill>
                <a:latin typeface="Arial"/>
              </a:defRPr>
            </a:pPr>
            <a:r>
              <a:t>Fine-tuned</a:t>
            </a:r>
          </a:p>
          <a:p>
            <a:pPr>
              <a:defRPr sz="1500" b="1">
                <a:solidFill>
                  <a:srgbClr val="218BC4"/>
                </a:solidFill>
                <a:latin typeface="Arial"/>
              </a:defRPr>
            </a:pPr>
            <a:r>
              <a:t>WiLoR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325880"/>
            <a:ext cx="244602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S038 | F462 | R</a:t>
            </a:r>
          </a:p>
        </p:txBody>
      </p:sp>
      <p:pic>
        <p:nvPicPr>
          <p:cNvPr id="11" name="Picture 10" descr="397_original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64258" y="1554480"/>
            <a:ext cx="1024128" cy="1024128"/>
          </a:xfrm>
          <a:prstGeom prst="rect">
            <a:avLst/>
          </a:prstGeom>
        </p:spPr>
      </p:pic>
      <p:pic>
        <p:nvPicPr>
          <p:cNvPr id="12" name="Picture 11" descr="397_annotation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64258" y="2743200"/>
            <a:ext cx="1024128" cy="1024128"/>
          </a:xfrm>
          <a:prstGeom prst="rect">
            <a:avLst/>
          </a:prstGeom>
        </p:spPr>
      </p:pic>
      <p:pic>
        <p:nvPicPr>
          <p:cNvPr id="13" name="Picture 12" descr="397_official.jp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064258" y="3931920"/>
            <a:ext cx="1024128" cy="1024128"/>
          </a:xfrm>
          <a:prstGeom prst="rect">
            <a:avLst/>
          </a:prstGeom>
        </p:spPr>
      </p:pic>
      <p:pic>
        <p:nvPicPr>
          <p:cNvPr id="14" name="Picture 13" descr="397_finetuned.jp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64258" y="5120640"/>
            <a:ext cx="1024128" cy="1024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6425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175.8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425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22.7 px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2212" y="1325880"/>
            <a:ext cx="244602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S038 | F528 | R</a:t>
            </a:r>
          </a:p>
        </p:txBody>
      </p:sp>
      <p:pic>
        <p:nvPicPr>
          <p:cNvPr id="18" name="Picture 17" descr="416_original.jp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693158" y="1554480"/>
            <a:ext cx="1024128" cy="1024128"/>
          </a:xfrm>
          <a:prstGeom prst="rect">
            <a:avLst/>
          </a:prstGeom>
        </p:spPr>
      </p:pic>
      <p:pic>
        <p:nvPicPr>
          <p:cNvPr id="19" name="Picture 18" descr="416_annotation.jp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693158" y="2743200"/>
            <a:ext cx="1024128" cy="1024128"/>
          </a:xfrm>
          <a:prstGeom prst="rect">
            <a:avLst/>
          </a:prstGeom>
        </p:spPr>
      </p:pic>
      <p:pic>
        <p:nvPicPr>
          <p:cNvPr id="20" name="Picture 19" descr="416_official.jp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693158" y="3931920"/>
            <a:ext cx="1024128" cy="1024128"/>
          </a:xfrm>
          <a:prstGeom prst="rect">
            <a:avLst/>
          </a:prstGeom>
        </p:spPr>
      </p:pic>
      <p:pic>
        <p:nvPicPr>
          <p:cNvPr id="21" name="Picture 20" descr="416_finetuned.jp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693158" y="5120640"/>
            <a:ext cx="1024128" cy="10241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69315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89.2 px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315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32.8 px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1325880"/>
            <a:ext cx="244602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S035 | F510 | L</a:t>
            </a:r>
          </a:p>
        </p:txBody>
      </p:sp>
      <p:pic>
        <p:nvPicPr>
          <p:cNvPr id="25" name="Picture 24" descr="167_original.jp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22058" y="1554480"/>
            <a:ext cx="1024128" cy="1024128"/>
          </a:xfrm>
          <a:prstGeom prst="rect">
            <a:avLst/>
          </a:prstGeom>
        </p:spPr>
      </p:pic>
      <p:pic>
        <p:nvPicPr>
          <p:cNvPr id="26" name="Picture 25" descr="167_annotation.jp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322058" y="2743200"/>
            <a:ext cx="1024128" cy="1024128"/>
          </a:xfrm>
          <a:prstGeom prst="rect">
            <a:avLst/>
          </a:prstGeom>
        </p:spPr>
      </p:pic>
      <p:pic>
        <p:nvPicPr>
          <p:cNvPr id="27" name="Picture 26" descr="167_official.jp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22058" y="3931920"/>
            <a:ext cx="1024128" cy="1024128"/>
          </a:xfrm>
          <a:prstGeom prst="rect">
            <a:avLst/>
          </a:prstGeom>
        </p:spPr>
      </p:pic>
      <p:pic>
        <p:nvPicPr>
          <p:cNvPr id="28" name="Picture 27" descr="167_finetuned.jp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322058" y="5120640"/>
            <a:ext cx="1024128" cy="10241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2205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78.6 px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05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54.5 px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0012" y="1325880"/>
            <a:ext cx="244602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S038 | F660 | R</a:t>
            </a:r>
          </a:p>
        </p:txBody>
      </p:sp>
      <p:pic>
        <p:nvPicPr>
          <p:cNvPr id="32" name="Picture 31" descr="460_original.jp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950958" y="1554480"/>
            <a:ext cx="1024128" cy="1024128"/>
          </a:xfrm>
          <a:prstGeom prst="rect">
            <a:avLst/>
          </a:prstGeom>
        </p:spPr>
      </p:pic>
      <p:pic>
        <p:nvPicPr>
          <p:cNvPr id="33" name="Picture 32" descr="460_annotation.jp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950958" y="2743200"/>
            <a:ext cx="1024128" cy="1024128"/>
          </a:xfrm>
          <a:prstGeom prst="rect">
            <a:avLst/>
          </a:prstGeom>
        </p:spPr>
      </p:pic>
      <p:pic>
        <p:nvPicPr>
          <p:cNvPr id="34" name="Picture 33" descr="460_official.jp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950958" y="3931920"/>
            <a:ext cx="1024128" cy="1024128"/>
          </a:xfrm>
          <a:prstGeom prst="rect">
            <a:avLst/>
          </a:prstGeom>
        </p:spPr>
      </p:pic>
      <p:pic>
        <p:nvPicPr>
          <p:cNvPr id="35" name="Picture 34" descr="460_finetuned.jp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950958" y="5120640"/>
            <a:ext cx="1024128" cy="102412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95095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77.8 px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5095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39.3 px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391656"/>
            <a:ext cx="10789920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0">
                <a:solidFill>
                  <a:srgbClr val="526478"/>
                </a:solidFill>
                <a:latin typeface="Arial"/>
              </a:defRPr>
            </a:pPr>
            <a:r>
              <a:t>Test set only | Identical frame and display crop | Dataset annotation is a fitted MANO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800" b="1">
                <a:solidFill>
                  <a:srgbClr val="14283F"/>
                </a:solidFill>
                <a:latin typeface="Arial"/>
              </a:defRPr>
            </a:pPr>
            <a:r>
              <a:t>Fine-tuned WiLoR worst test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0">
                <a:solidFill>
                  <a:srgbClr val="526478"/>
                </a:solidFill>
                <a:latin typeface="Arial"/>
              </a:defRPr>
            </a:pPr>
            <a:r>
              <a:t>Ranked by the named model’s test error; examples are at least 1 second apart within each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3657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14283F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88366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526478"/>
                </a:solidFill>
                <a:latin typeface="Arial"/>
              </a:defRPr>
            </a:pPr>
            <a:r>
              <a:t>Raw 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7238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278632"/>
                </a:solidFill>
                <a:latin typeface="Arial"/>
              </a:defRPr>
            </a:pPr>
            <a:r>
              <a:t>Dataset</a:t>
            </a:r>
          </a:p>
          <a:p>
            <a:pPr>
              <a:defRPr sz="1500" b="1">
                <a:solidFill>
                  <a:srgbClr val="278632"/>
                </a:solidFill>
                <a:latin typeface="Arial"/>
              </a:defRPr>
            </a:pPr>
            <a:r>
              <a:t>annotation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26110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DB7D29"/>
                </a:solidFill>
                <a:latin typeface="Arial"/>
              </a:defRPr>
            </a:pPr>
            <a:r>
              <a:t>Official</a:t>
            </a:r>
          </a:p>
          <a:p>
            <a:pPr>
              <a:defRPr sz="1500" b="1">
                <a:solidFill>
                  <a:srgbClr val="DB7D29"/>
                </a:solidFill>
                <a:latin typeface="Arial"/>
              </a:defRPr>
            </a:pPr>
            <a:r>
              <a:t>WiLoR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449824"/>
            <a:ext cx="105156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500" b="1">
                <a:solidFill>
                  <a:srgbClr val="218BC4"/>
                </a:solidFill>
                <a:latin typeface="Arial"/>
              </a:defRPr>
            </a:pPr>
            <a:r>
              <a:t>Fine-tuned</a:t>
            </a:r>
          </a:p>
          <a:p>
            <a:pPr>
              <a:defRPr sz="1500" b="1">
                <a:solidFill>
                  <a:srgbClr val="218BC4"/>
                </a:solidFill>
                <a:latin typeface="Arial"/>
              </a:defRPr>
            </a:pPr>
            <a:r>
              <a:t>WiLoR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325880"/>
            <a:ext cx="244602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S035 | F510 | L</a:t>
            </a:r>
          </a:p>
        </p:txBody>
      </p:sp>
      <p:pic>
        <p:nvPicPr>
          <p:cNvPr id="11" name="Picture 10" descr="167_original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64258" y="1554480"/>
            <a:ext cx="1024128" cy="1024128"/>
          </a:xfrm>
          <a:prstGeom prst="rect">
            <a:avLst/>
          </a:prstGeom>
        </p:spPr>
      </p:pic>
      <p:pic>
        <p:nvPicPr>
          <p:cNvPr id="12" name="Picture 11" descr="167_annotation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64258" y="2743200"/>
            <a:ext cx="1024128" cy="1024128"/>
          </a:xfrm>
          <a:prstGeom prst="rect">
            <a:avLst/>
          </a:prstGeom>
        </p:spPr>
      </p:pic>
      <p:pic>
        <p:nvPicPr>
          <p:cNvPr id="13" name="Picture 12" descr="167_official.jp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064258" y="3931920"/>
            <a:ext cx="1024128" cy="1024128"/>
          </a:xfrm>
          <a:prstGeom prst="rect">
            <a:avLst/>
          </a:prstGeom>
        </p:spPr>
      </p:pic>
      <p:pic>
        <p:nvPicPr>
          <p:cNvPr id="14" name="Picture 13" descr="167_finetuned.jp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64258" y="5120640"/>
            <a:ext cx="1024128" cy="1024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6425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78.6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425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54.5 px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2212" y="1325880"/>
            <a:ext cx="244602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S035 | F582 | L</a:t>
            </a:r>
          </a:p>
        </p:txBody>
      </p:sp>
      <p:pic>
        <p:nvPicPr>
          <p:cNvPr id="18" name="Picture 17" descr="187_original.jp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693158" y="1554480"/>
            <a:ext cx="1024128" cy="1024128"/>
          </a:xfrm>
          <a:prstGeom prst="rect">
            <a:avLst/>
          </a:prstGeom>
        </p:spPr>
      </p:pic>
      <p:pic>
        <p:nvPicPr>
          <p:cNvPr id="19" name="Picture 18" descr="187_annotation.jp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693158" y="2743200"/>
            <a:ext cx="1024128" cy="1024128"/>
          </a:xfrm>
          <a:prstGeom prst="rect">
            <a:avLst/>
          </a:prstGeom>
        </p:spPr>
      </p:pic>
      <p:pic>
        <p:nvPicPr>
          <p:cNvPr id="20" name="Picture 19" descr="187_official.jp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693158" y="3931920"/>
            <a:ext cx="1024128" cy="1024128"/>
          </a:xfrm>
          <a:prstGeom prst="rect">
            <a:avLst/>
          </a:prstGeom>
        </p:spPr>
      </p:pic>
      <p:pic>
        <p:nvPicPr>
          <p:cNvPr id="21" name="Picture 20" descr="187_finetuned.jp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693158" y="5120640"/>
            <a:ext cx="1024128" cy="10241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69315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67.6 px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315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49.9 px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1325880"/>
            <a:ext cx="244602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S035 | F402 | L</a:t>
            </a:r>
          </a:p>
        </p:txBody>
      </p:sp>
      <p:pic>
        <p:nvPicPr>
          <p:cNvPr id="25" name="Picture 24" descr="131_original.jp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22058" y="1554480"/>
            <a:ext cx="1024128" cy="1024128"/>
          </a:xfrm>
          <a:prstGeom prst="rect">
            <a:avLst/>
          </a:prstGeom>
        </p:spPr>
      </p:pic>
      <p:pic>
        <p:nvPicPr>
          <p:cNvPr id="26" name="Picture 25" descr="131_annotation.jp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322058" y="2743200"/>
            <a:ext cx="1024128" cy="1024128"/>
          </a:xfrm>
          <a:prstGeom prst="rect">
            <a:avLst/>
          </a:prstGeom>
        </p:spPr>
      </p:pic>
      <p:pic>
        <p:nvPicPr>
          <p:cNvPr id="27" name="Picture 26" descr="131_official.jp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22058" y="3931920"/>
            <a:ext cx="1024128" cy="1024128"/>
          </a:xfrm>
          <a:prstGeom prst="rect">
            <a:avLst/>
          </a:prstGeom>
        </p:spPr>
      </p:pic>
      <p:pic>
        <p:nvPicPr>
          <p:cNvPr id="28" name="Picture 27" descr="131_finetuned.jp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322058" y="5120640"/>
            <a:ext cx="1024128" cy="10241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2205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49.1 px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05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46.4 px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0012" y="1325880"/>
            <a:ext cx="2446020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0">
                <a:solidFill>
                  <a:srgbClr val="526478"/>
                </a:solidFill>
                <a:latin typeface="Arial"/>
              </a:defRPr>
            </a:pPr>
            <a:r>
              <a:t>S035 | F336 | L</a:t>
            </a:r>
          </a:p>
        </p:txBody>
      </p:sp>
      <p:pic>
        <p:nvPicPr>
          <p:cNvPr id="32" name="Picture 31" descr="109_original.jp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950958" y="1554480"/>
            <a:ext cx="1024128" cy="1024128"/>
          </a:xfrm>
          <a:prstGeom prst="rect">
            <a:avLst/>
          </a:prstGeom>
        </p:spPr>
      </p:pic>
      <p:pic>
        <p:nvPicPr>
          <p:cNvPr id="33" name="Picture 32" descr="109_annotation.jp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950958" y="2743200"/>
            <a:ext cx="1024128" cy="1024128"/>
          </a:xfrm>
          <a:prstGeom prst="rect">
            <a:avLst/>
          </a:prstGeom>
        </p:spPr>
      </p:pic>
      <p:pic>
        <p:nvPicPr>
          <p:cNvPr id="34" name="Picture 33" descr="109_official.jp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950958" y="3931920"/>
            <a:ext cx="1024128" cy="1024128"/>
          </a:xfrm>
          <a:prstGeom prst="rect">
            <a:avLst/>
          </a:prstGeom>
        </p:spPr>
      </p:pic>
      <p:pic>
        <p:nvPicPr>
          <p:cNvPr id="35" name="Picture 34" descr="109_finetuned.jp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950958" y="5120640"/>
            <a:ext cx="1024128" cy="102412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950958" y="496519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DB7D29"/>
                </a:solidFill>
                <a:latin typeface="Arial"/>
              </a:defRPr>
            </a:pPr>
            <a:r>
              <a:t>44.3 px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50958" y="6153912"/>
            <a:ext cx="1207008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218BC4"/>
                </a:solidFill>
                <a:latin typeface="Arial"/>
              </a:defRPr>
            </a:pPr>
            <a:r>
              <a:t>45.8 px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391656"/>
            <a:ext cx="10789920" cy="1828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0">
                <a:solidFill>
                  <a:srgbClr val="526478"/>
                </a:solidFill>
                <a:latin typeface="Arial"/>
              </a:defRPr>
            </a:pPr>
            <a:r>
              <a:t>Test set only | Identical frame and display crop | Dataset annotation is a fitted MANO reference.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283F"/>
                </a:solidFill>
                <a:latin typeface="Microsoft YaHei"/>
              </a:defRPr>
            </a:pPr>
            <a:r>
              <a:t>当前结论与下一步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77824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26478"/>
                </a:solidFill>
                <a:latin typeface="Microsoft YaHei"/>
              </a:defRPr>
            </a:pPr>
            <a:r>
              <a:t>已完成裁剪统一；继续围绕手套场景的实际效果验证改进。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9672"/>
            <a:ext cx="10881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Test set · 统一检测框紧裁剪 · 误差以数据集 MANO 拟合标注为参考；图片不显示标注骨架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3657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502920" cy="50292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2300" b="1">
                <a:solidFill>
                  <a:srgbClr val="14283F"/>
                </a:solidFill>
                <a:latin typeface="Microsoft YaHei"/>
              </a:defRPr>
            </a:pPr>
            <a:r>
              <a:t>已完成：统一训练与推理裁剪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58568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正方形框 ×1.25；两模型使用同一检测框，test平均二维误差下降约22%。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971800"/>
            <a:ext cx="502920" cy="50292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01752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2300" b="1">
                <a:solidFill>
                  <a:srgbClr val="14283F"/>
                </a:solidFill>
                <a:latin typeface="Microsoft YaHei"/>
              </a:defRPr>
            </a:pPr>
            <a:r>
              <a:t>下一步：改善定位与框变化适应性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538728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526478"/>
                </a:solidFill>
                <a:latin typeface="Microsoft YaHei"/>
              </a:defRPr>
            </a:pPr>
            <a:r>
              <a:t>在后续微调中加入检测框中心、尺度扰动，同时监测原图投影和手腕偏差。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4251960"/>
            <a:ext cx="502920" cy="50292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2300" b="1">
                <a:solidFill>
                  <a:srgbClr val="14283F"/>
                </a:solidFill>
                <a:latin typeface="Microsoft YaHei"/>
              </a:defRPr>
            </a:pPr>
            <a:r>
              <a:t>最后：用新的留出录像确认收益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18888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526478"/>
                </a:solidFill>
                <a:latin typeface="Microsoft YaHei"/>
              </a:defRPr>
            </a:pPr>
            <a:r>
              <a:t>检查未见过的手套姿态和裸手表现，再决定是否替换官方模型。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833872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26478"/>
                </a:solidFill>
                <a:latin typeface="Microsoft YaHei"/>
              </a:defRPr>
            </a:pPr>
            <a:r>
              <a:t>当前限制：平均改善不代表每帧更好；手腕定位与裸手表现仍有退化，参考标注也存在误差。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992</Words>
  <Application>Microsoft Office PowerPoint</Application>
  <PresentationFormat>Widescreen</PresentationFormat>
  <Paragraphs>176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Jiang, Xue</cp:lastModifiedBy>
  <cp:revision>1</cp:revision>
  <dcterms:created xsi:type="dcterms:W3CDTF">2013-01-27T09:14:16Z</dcterms:created>
  <dcterms:modified xsi:type="dcterms:W3CDTF">2026-10-16T20:34:26Z</dcterms:modified>
  <cp:category/>
</cp:coreProperties>
</file>