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检测准确率；指标为21关节平均原图投影误差，参考为拟合MANO。验证集曾用于选模，不是新独立测试结论。训练/验证按完整录像划分。检测同手性+IoU&gt;=0.3。两模型输入一致，1.25倍正方形，无额外宽高比扩张。来源：evaluation/hand_display_unified_crop/per_sample.cs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</a:t>
            </a:r>
          </a:p>
          <a:p>
            <a:r>
              <a:t>  "group": "random",</a:t>
            </a:r>
          </a:p>
          <a:p>
            <a:r>
              <a:t>  "sample_indices": [</a:t>
            </a:r>
          </a:p>
          <a:p>
            <a:r>
              <a:t>    41,</a:t>
            </a:r>
          </a:p>
          <a:p>
            <a:r>
              <a:t>    298,</a:t>
            </a:r>
          </a:p>
          <a:p>
            <a:r>
              <a:t>    42,</a:t>
            </a:r>
          </a:p>
          <a:p>
            <a:r>
              <a:t>    258,</a:t>
            </a:r>
          </a:p>
          <a:p>
            <a:r>
              <a:t>    181</a:t>
            </a:r>
          </a:p>
          <a:p>
            <a:r>
              <a:t>  ],</a:t>
            </a:r>
          </a:p>
          <a:p>
            <a:r>
              <a:t>  "sample_mean_px": {</a:t>
            </a:r>
          </a:p>
          <a:p>
            <a:r>
              <a:t>    "official": 76.19261620929981,</a:t>
            </a:r>
          </a:p>
          <a:p>
            <a:r>
              <a:t>    "finetuned": 29.922698204236134</a:t>
            </a:r>
          </a:p>
          <a:p>
            <a:r>
              <a:t>  },</a:t>
            </a:r>
          </a:p>
          <a:p>
            <a:r>
              <a:t>  "display": "All three panels use identical hand-region crop for display; input inference used detected boxes. Source reference overlays excluded.",</a:t>
            </a:r>
          </a:p>
          <a:p>
            <a:r>
              <a:t>  "selection": "Uniform over 351 matched validation hand samples, without replacement; no selection by outcome."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</a:t>
            </a:r>
          </a:p>
          <a:p>
            <a:r>
              <a:t>  "group": "random",</a:t>
            </a:r>
          </a:p>
          <a:p>
            <a:r>
              <a:t>  "sample_indices": [</a:t>
            </a:r>
          </a:p>
          <a:p>
            <a:r>
              <a:t>    178,</a:t>
            </a:r>
          </a:p>
          <a:p>
            <a:r>
              <a:t>    276,</a:t>
            </a:r>
          </a:p>
          <a:p>
            <a:r>
              <a:t>    45,</a:t>
            </a:r>
          </a:p>
          <a:p>
            <a:r>
              <a:t>    94,</a:t>
            </a:r>
          </a:p>
          <a:p>
            <a:r>
              <a:t>    330</a:t>
            </a:r>
          </a:p>
          <a:p>
            <a:r>
              <a:t>  ],</a:t>
            </a:r>
          </a:p>
          <a:p>
            <a:r>
              <a:t>  "sample_mean_px": {</a:t>
            </a:r>
          </a:p>
          <a:p>
            <a:r>
              <a:t>    "official": 42.37943626861882,</a:t>
            </a:r>
          </a:p>
          <a:p>
            <a:r>
              <a:t>    "finetuned": 29.344938689380843</a:t>
            </a:r>
          </a:p>
          <a:p>
            <a:r>
              <a:t>  },</a:t>
            </a:r>
          </a:p>
          <a:p>
            <a:r>
              <a:t>  "display": "All three panels use identical hand-region crop for display; input inference used detected boxes. Source reference overlays excluded.",</a:t>
            </a:r>
          </a:p>
          <a:p>
            <a:r>
              <a:t>  "selection": "Uniform over 351 matched validation hand samples, without replacement; no selection by outcome."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</a:t>
            </a:r>
          </a:p>
          <a:p>
            <a:r>
              <a:t>  "group": "official_worst",</a:t>
            </a:r>
          </a:p>
          <a:p>
            <a:r>
              <a:t>  "sample_indices": [</a:t>
            </a:r>
          </a:p>
          <a:p>
            <a:r>
              <a:t>    41,</a:t>
            </a:r>
          </a:p>
          <a:p>
            <a:r>
              <a:t>    287,</a:t>
            </a:r>
          </a:p>
          <a:p>
            <a:r>
              <a:t>    123,</a:t>
            </a:r>
          </a:p>
          <a:p>
            <a:r>
              <a:t>    191</a:t>
            </a:r>
          </a:p>
          <a:p>
            <a:r>
              <a:t>  ],</a:t>
            </a:r>
          </a:p>
          <a:p>
            <a:r>
              <a:t>  "sample_mean_px": {</a:t>
            </a:r>
          </a:p>
          <a:p>
            <a:r>
              <a:t>    "official": 127.75550131280298,</a:t>
            </a:r>
          </a:p>
          <a:p>
            <a:r>
              <a:t>    "finetuned": 37.01491714876549</a:t>
            </a:r>
          </a:p>
          <a:p>
            <a:r>
              <a:t>  },</a:t>
            </a:r>
          </a:p>
          <a:p>
            <a:r>
              <a:t>  "display": "All three panels use identical hand-region crop for display; input inference used detected boxes. Source reference overlays excluded.",</a:t>
            </a:r>
          </a:p>
          <a:p>
            <a:r>
              <a:t>  "selection": "Rank by original-image 2D error; greedily choose 4 examples at least 30 source frames apart within each session, to avoid adjacent duplicates."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</a:t>
            </a:r>
          </a:p>
          <a:p>
            <a:r>
              <a:t>  "group": "finetuned_worst",</a:t>
            </a:r>
          </a:p>
          <a:p>
            <a:r>
              <a:t>  "sample_indices": [</a:t>
            </a:r>
          </a:p>
          <a:p>
            <a:r>
              <a:t>    268,</a:t>
            </a:r>
          </a:p>
          <a:p>
            <a:r>
              <a:t>    212,</a:t>
            </a:r>
          </a:p>
          <a:p>
            <a:r>
              <a:t>    226,</a:t>
            </a:r>
          </a:p>
          <a:p>
            <a:r>
              <a:t>    236</a:t>
            </a:r>
          </a:p>
          <a:p>
            <a:r>
              <a:t>  ],</a:t>
            </a:r>
          </a:p>
          <a:p>
            <a:r>
              <a:t>  "sample_mean_px": {</a:t>
            </a:r>
          </a:p>
          <a:p>
            <a:r>
              <a:t>    "official": 84.63165664367004,</a:t>
            </a:r>
          </a:p>
          <a:p>
            <a:r>
              <a:t>    "finetuned": 77.0996337194388</a:t>
            </a:r>
          </a:p>
          <a:p>
            <a:r>
              <a:t>  },</a:t>
            </a:r>
          </a:p>
          <a:p>
            <a:r>
              <a:t>  "display": "All three panels use identical hand-region crop for display; input inference used detected boxes. Source reference overlays excluded.",</a:t>
            </a:r>
          </a:p>
          <a:p>
            <a:r>
              <a:t>  "selection": "Rank by original-image 2D error; greedily choose 4 examples at least 30 source frames apart within each session, to avoid adjacent duplicates."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合并旧结论版中的下一步计划，并将裁剪统一更新为已完成。其余旧裁剪诊断留在实验记录，不放入面向观众的汇报。第二轮微调尚未启动。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Relationship Id="rId1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Relationship Id="rId10" Type="http://schemas.openxmlformats.org/officeDocument/2006/relationships/image" Target="../media/image24.jpg"/><Relationship Id="rId11" Type="http://schemas.openxmlformats.org/officeDocument/2006/relationships/image" Target="../media/image25.jpg"/><Relationship Id="rId12" Type="http://schemas.openxmlformats.org/officeDocument/2006/relationships/image" Target="../media/image26.jpg"/><Relationship Id="rId13" Type="http://schemas.openxmlformats.org/officeDocument/2006/relationships/image" Target="../media/image27.jpg"/><Relationship Id="rId14" Type="http://schemas.openxmlformats.org/officeDocument/2006/relationships/image" Target="../media/image28.jpg"/><Relationship Id="rId15" Type="http://schemas.openxmlformats.org/officeDocument/2006/relationships/image" Target="../media/image29.jpg"/><Relationship Id="rId16" Type="http://schemas.openxmlformats.org/officeDocument/2006/relationships/image" Target="../media/image30.jpg"/><Relationship Id="rId1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Relationship Id="rId8" Type="http://schemas.openxmlformats.org/officeDocument/2006/relationships/image" Target="../media/image34.jpg"/><Relationship Id="rId9" Type="http://schemas.openxmlformats.org/officeDocument/2006/relationships/image" Target="../media/image35.jpg"/><Relationship Id="rId10" Type="http://schemas.openxmlformats.org/officeDocument/2006/relationships/image" Target="../media/image36.jpg"/><Relationship Id="rId11" Type="http://schemas.openxmlformats.org/officeDocument/2006/relationships/image" Target="../media/image37.jpg"/><Relationship Id="rId12" Type="http://schemas.openxmlformats.org/officeDocument/2006/relationships/image" Target="../media/image38.jpg"/><Relationship Id="rId13" Type="http://schemas.openxmlformats.org/officeDocument/2006/relationships/image" Target="../media/image39.jpg"/><Relationship Id="rId1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image" Target="../media/image44.jpg"/><Relationship Id="rId7" Type="http://schemas.openxmlformats.org/officeDocument/2006/relationships/image" Target="../media/image45.jpg"/><Relationship Id="rId8" Type="http://schemas.openxmlformats.org/officeDocument/2006/relationships/image" Target="../media/image46.jpg"/><Relationship Id="rId9" Type="http://schemas.openxmlformats.org/officeDocument/2006/relationships/image" Target="../media/image47.jpg"/><Relationship Id="rId10" Type="http://schemas.openxmlformats.org/officeDocument/2006/relationships/image" Target="../media/image48.jpg"/><Relationship Id="rId11" Type="http://schemas.openxmlformats.org/officeDocument/2006/relationships/image" Target="../media/image49.jpg"/><Relationship Id="rId12" Type="http://schemas.openxmlformats.org/officeDocument/2006/relationships/image" Target="../media/image50.jpg"/><Relationship Id="rId13" Type="http://schemas.openxmlformats.org/officeDocument/2006/relationships/image" Target="../media/image51.jpg"/><Relationship Id="rId1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283F"/>
                </a:solidFill>
                <a:latin typeface="Microsoft YaHei"/>
              </a:defRPr>
            </a:pPr>
            <a:r>
              <a:t>手套姿态重建：微调后平均二维误差降低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77824"/>
            <a:ext cx="11247120" cy="5486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26478"/>
                </a:solidFill>
                <a:latin typeface="Microsoft YaHei"/>
              </a:defRPr>
            </a:pPr>
            <a:r>
              <a:t>从官方 WiLoR 出发，仅用 Gaussian Hand Display 微调；在相同输入、相同验证样本上比较。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9672"/>
            <a:ext cx="108813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26478"/>
                </a:solidFill>
                <a:latin typeface="Microsoft YaHei"/>
              </a:defRPr>
            </a:pPr>
            <a:r>
              <a:t>验证集 · 统一检测框紧裁剪 · 误差以数据集 MANO 拟合标注为参考；图片不显示标注骨架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3657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526478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337560" cy="1874519"/>
          </a:xfrm>
          <a:prstGeom prst="rect">
            <a:avLst/>
          </a:prstGeom>
          <a:solidFill>
            <a:srgbClr val="F0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2971800" cy="3657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DB7D29"/>
                </a:solidFill>
                <a:latin typeface="Microsoft YaHei"/>
              </a:defRPr>
            </a:pPr>
            <a:r>
              <a:t>官方 WiLoR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15184"/>
            <a:ext cx="2971800" cy="685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3900" b="1">
                <a:solidFill>
                  <a:srgbClr val="DB7D29"/>
                </a:solidFill>
                <a:latin typeface="Microsoft YaHei"/>
              </a:defRPr>
            </a:pPr>
            <a:r>
              <a:t>35.3 px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783080"/>
            <a:ext cx="3337560" cy="1874519"/>
          </a:xfrm>
          <a:prstGeom prst="rect">
            <a:avLst/>
          </a:prstGeom>
          <a:solidFill>
            <a:srgbClr val="F0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993392"/>
            <a:ext cx="2971800" cy="3657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218BC4"/>
                </a:solidFill>
                <a:latin typeface="Microsoft YaHei"/>
              </a:defRPr>
            </a:pPr>
            <a:r>
              <a:t>Fine-tuned WiLoR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615184"/>
            <a:ext cx="2971800" cy="685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3900" b="1">
                <a:solidFill>
                  <a:srgbClr val="218BC4"/>
                </a:solidFill>
                <a:latin typeface="Microsoft YaHei"/>
              </a:defRPr>
            </a:pPr>
            <a:r>
              <a:t>26.4 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1783080"/>
            <a:ext cx="3337560" cy="1874519"/>
          </a:xfrm>
          <a:prstGeom prst="rect">
            <a:avLst/>
          </a:prstGeom>
          <a:solidFill>
            <a:srgbClr val="F0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993392"/>
            <a:ext cx="2971800" cy="3657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007F86"/>
                </a:solidFill>
                <a:latin typeface="Microsoft YaHei"/>
              </a:defRPr>
            </a:pPr>
            <a:r>
              <a:t>平均误差下降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615184"/>
            <a:ext cx="2971800" cy="6858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3900" b="1">
                <a:solidFill>
                  <a:srgbClr val="007F86"/>
                </a:solidFill>
                <a:latin typeface="Microsoft YaHei"/>
              </a:defRPr>
            </a:pPr>
            <a:r>
              <a:t>25.1%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069080"/>
            <a:ext cx="1097280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300" b="1">
                <a:solidFill>
                  <a:srgbClr val="007F86"/>
                </a:solidFill>
                <a:latin typeface="Microsoft YaHei"/>
              </a:defRPr>
            </a:pPr>
            <a:r>
              <a:t>结论：当前验证集上，微调模型平均更好，但仍存在失败与退步样本。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782312"/>
            <a:ext cx="10972800" cy="5486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100" b="0">
                <a:solidFill>
                  <a:srgbClr val="14283F"/>
                </a:solidFill>
                <a:latin typeface="Microsoft YaHei"/>
              </a:defRPr>
            </a:pPr>
            <a:r>
              <a:t>辅助指标｜手腕对齐后的 3D 关节误差：20.1 → 9.8 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532120"/>
            <a:ext cx="1097280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26478"/>
                </a:solidFill>
                <a:latin typeface="Microsoft YaHei"/>
              </a:defRPr>
            </a:pPr>
            <a:r>
              <a:t>数据：1,672 个训练手部样本；训练 10 轮，验证选中第 9 轮。</a:t>
            </a:r>
          </a:p>
          <a:p>
            <a:pPr>
              <a:spcAft>
                <a:spcPts val="300"/>
              </a:spcAft>
              <a:defRPr sz="1500" b="0">
                <a:solidFill>
                  <a:srgbClr val="526478"/>
                </a:solidFill>
                <a:latin typeface="Microsoft YaHei"/>
              </a:defRPr>
            </a:pPr>
            <a:r>
              <a:t>评测：384 个验证样本中，351 个检测匹配成功；其余 33 个不计入误差均值。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283F"/>
                </a:solidFill>
                <a:latin typeface="Microsoft YaHei"/>
              </a:defRPr>
            </a:pPr>
            <a:r>
              <a:t>随机样本 01–05｜原图、官方与微调逐一对照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77824"/>
            <a:ext cx="11247120" cy="5486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26478"/>
                </a:solidFill>
                <a:latin typeface="Microsoft YaHei"/>
              </a:defRPr>
            </a:pPr>
            <a:r>
              <a:t>从有效验证样本中随机抽取 10 个，不按结果挑选；固定随机种子 42。数字为对应手的二维误差，越低越好。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9672"/>
            <a:ext cx="108813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26478"/>
                </a:solidFill>
                <a:latin typeface="Microsoft YaHei"/>
              </a:defRPr>
            </a:pPr>
            <a:r>
              <a:t>验证集 · 统一检测框紧裁剪 · 误差以数据集 MANO 拟合标注为参考；图片不显示标注骨架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3657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526478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03120"/>
            <a:ext cx="100584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526478"/>
                </a:solidFill>
                <a:latin typeface="Microsoft YaHei"/>
              </a:defRPr>
            </a:pPr>
            <a:r>
              <a:t>原图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657600"/>
            <a:ext cx="100584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DB7D29"/>
                </a:solidFill>
                <a:latin typeface="Microsoft YaHei"/>
              </a:defRPr>
            </a:pPr>
            <a:r>
              <a:t>官方</a:t>
            </a:r>
          </a:p>
          <a:p>
            <a:pPr>
              <a:spcAft>
                <a:spcPts val="300"/>
              </a:spcAft>
              <a:defRPr sz="1800" b="1">
                <a:solidFill>
                  <a:srgbClr val="DB7D29"/>
                </a:solidFill>
                <a:latin typeface="Microsoft YaHei"/>
              </a:defRPr>
            </a:pPr>
            <a:r>
              <a:t>WiLoR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5212080"/>
            <a:ext cx="100584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218BC4"/>
                </a:solidFill>
                <a:latin typeface="Microsoft YaHei"/>
              </a:defRPr>
            </a:pPr>
            <a:r>
              <a:t>微调</a:t>
            </a:r>
          </a:p>
          <a:p>
            <a:pPr>
              <a:spcAft>
                <a:spcPts val="300"/>
              </a:spcAft>
              <a:defRPr sz="1800" b="1">
                <a:solidFill>
                  <a:srgbClr val="218BC4"/>
                </a:solidFill>
                <a:latin typeface="Microsoft YaHei"/>
              </a:defRPr>
            </a:pPr>
            <a:r>
              <a:t>WiLoR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417320"/>
            <a:ext cx="192024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S019 · F276 · R</a:t>
            </a:r>
          </a:p>
        </p:txBody>
      </p:sp>
      <p:pic>
        <p:nvPicPr>
          <p:cNvPr id="11" name="Picture 10" descr="41_orig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776" y="1645920"/>
            <a:ext cx="1353312" cy="1353312"/>
          </a:xfrm>
          <a:prstGeom prst="rect">
            <a:avLst/>
          </a:prstGeom>
        </p:spPr>
      </p:pic>
      <p:pic>
        <p:nvPicPr>
          <p:cNvPr id="12" name="Picture 11" descr="41_offici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776" y="3200400"/>
            <a:ext cx="1353312" cy="1353312"/>
          </a:xfrm>
          <a:prstGeom prst="rect">
            <a:avLst/>
          </a:prstGeom>
        </p:spPr>
      </p:pic>
      <p:pic>
        <p:nvPicPr>
          <p:cNvPr id="13" name="Picture 12" descr="41_finetun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6776" y="4754880"/>
            <a:ext cx="1353312" cy="135331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63677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8249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184.4 px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3677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8249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40.5 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1417320"/>
            <a:ext cx="192024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S036 · F540 · L</a:t>
            </a:r>
          </a:p>
        </p:txBody>
      </p:sp>
      <p:pic>
        <p:nvPicPr>
          <p:cNvPr id="19" name="Picture 18" descr="298_origi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9896" y="1645920"/>
            <a:ext cx="1353312" cy="1353312"/>
          </a:xfrm>
          <a:prstGeom prst="rect">
            <a:avLst/>
          </a:prstGeom>
        </p:spPr>
      </p:pic>
      <p:pic>
        <p:nvPicPr>
          <p:cNvPr id="20" name="Picture 19" descr="298_officia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9896" y="3200400"/>
            <a:ext cx="1353312" cy="1353312"/>
          </a:xfrm>
          <a:prstGeom prst="rect">
            <a:avLst/>
          </a:prstGeom>
        </p:spPr>
      </p:pic>
      <p:pic>
        <p:nvPicPr>
          <p:cNvPr id="21" name="Picture 20" descr="298_finetuned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9896" y="4754880"/>
            <a:ext cx="1353312" cy="135331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73989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85615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35.7 px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3989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5615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15.0 px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1417320"/>
            <a:ext cx="192024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S019 · F282 · R</a:t>
            </a:r>
          </a:p>
        </p:txBody>
      </p:sp>
      <p:pic>
        <p:nvPicPr>
          <p:cNvPr id="27" name="Picture 26" descr="42_original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43016" y="1645920"/>
            <a:ext cx="1353312" cy="1353312"/>
          </a:xfrm>
          <a:prstGeom prst="rect">
            <a:avLst/>
          </a:prstGeom>
        </p:spPr>
      </p:pic>
      <p:pic>
        <p:nvPicPr>
          <p:cNvPr id="28" name="Picture 27" descr="42_official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3016" y="3200400"/>
            <a:ext cx="1353312" cy="1353312"/>
          </a:xfrm>
          <a:prstGeom prst="rect">
            <a:avLst/>
          </a:prstGeom>
        </p:spPr>
      </p:pic>
      <p:pic>
        <p:nvPicPr>
          <p:cNvPr id="29" name="Picture 28" descr="42_finetuned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43016" y="4754880"/>
            <a:ext cx="1353312" cy="1353312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84301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873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41.0 px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4301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8873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21.8 px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1417320"/>
            <a:ext cx="192024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S036 · F420 · L</a:t>
            </a:r>
          </a:p>
        </p:txBody>
      </p:sp>
      <p:pic>
        <p:nvPicPr>
          <p:cNvPr id="35" name="Picture 34" descr="258_original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6136" y="1645920"/>
            <a:ext cx="1353312" cy="1353312"/>
          </a:xfrm>
          <a:prstGeom prst="rect">
            <a:avLst/>
          </a:prstGeom>
        </p:spPr>
      </p:pic>
      <p:pic>
        <p:nvPicPr>
          <p:cNvPr id="36" name="Picture 35" descr="258_officia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46136" y="3200400"/>
            <a:ext cx="1353312" cy="1353312"/>
          </a:xfrm>
          <a:prstGeom prst="rect">
            <a:avLst/>
          </a:prstGeom>
        </p:spPr>
      </p:pic>
      <p:pic>
        <p:nvPicPr>
          <p:cNvPr id="37" name="Picture 36" descr="258_finetuned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46136" y="4754880"/>
            <a:ext cx="1353312" cy="1353312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794613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41.2 px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4613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9185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36.3 px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5792" y="1417320"/>
            <a:ext cx="192024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S036 · F180 · R</a:t>
            </a:r>
          </a:p>
        </p:txBody>
      </p:sp>
      <p:pic>
        <p:nvPicPr>
          <p:cNvPr id="43" name="Picture 42" descr="181_original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49256" y="1645920"/>
            <a:ext cx="1353312" cy="1353312"/>
          </a:xfrm>
          <a:prstGeom prst="rect">
            <a:avLst/>
          </a:prstGeom>
        </p:spPr>
      </p:pic>
      <p:pic>
        <p:nvPicPr>
          <p:cNvPr id="44" name="Picture 43" descr="181_official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49256" y="3200400"/>
            <a:ext cx="1353312" cy="1353312"/>
          </a:xfrm>
          <a:prstGeom prst="rect">
            <a:avLst/>
          </a:prstGeom>
        </p:spPr>
      </p:pic>
      <p:pic>
        <p:nvPicPr>
          <p:cNvPr id="45" name="Picture 44" descr="181_finetuned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49256" y="4754880"/>
            <a:ext cx="1353312" cy="1353312"/>
          </a:xfrm>
          <a:prstGeom prst="rect">
            <a:avLst/>
          </a:prstGeom>
        </p:spPr>
      </p:pic>
      <p:sp>
        <p:nvSpPr>
          <p:cNvPr id="46" name="Rectangle 45"/>
          <p:cNvSpPr/>
          <p:nvPr/>
        </p:nvSpPr>
        <p:spPr>
          <a:xfrm>
            <a:off x="1004925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9497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78.8 px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4925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9497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35.9 px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283F"/>
                </a:solidFill>
                <a:latin typeface="Microsoft YaHei"/>
              </a:defRPr>
            </a:pPr>
            <a:r>
              <a:t>随机样本 06–10｜保留改善和退步的真实情况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77824"/>
            <a:ext cx="11247120" cy="5486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26478"/>
                </a:solidFill>
                <a:latin typeface="Microsoft YaHei"/>
              </a:defRPr>
            </a:pPr>
            <a:r>
              <a:t>与上一页属于同一次随机抽样；每列为同一帧、同一只手。图片展示局部放大，便于看清手指。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9672"/>
            <a:ext cx="108813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26478"/>
                </a:solidFill>
                <a:latin typeface="Microsoft YaHei"/>
              </a:defRPr>
            </a:pPr>
            <a:r>
              <a:t>验证集 · 统一检测框紧裁剪 · 误差以数据集 MANO 拟合标注为参考；图片不显示标注骨架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3657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526478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03120"/>
            <a:ext cx="100584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526478"/>
                </a:solidFill>
                <a:latin typeface="Microsoft YaHei"/>
              </a:defRPr>
            </a:pPr>
            <a:r>
              <a:t>原图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657600"/>
            <a:ext cx="100584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DB7D29"/>
                </a:solidFill>
                <a:latin typeface="Microsoft YaHei"/>
              </a:defRPr>
            </a:pPr>
            <a:r>
              <a:t>官方</a:t>
            </a:r>
          </a:p>
          <a:p>
            <a:pPr>
              <a:spcAft>
                <a:spcPts val="300"/>
              </a:spcAft>
              <a:defRPr sz="1800" b="1">
                <a:solidFill>
                  <a:srgbClr val="DB7D29"/>
                </a:solidFill>
                <a:latin typeface="Microsoft YaHei"/>
              </a:defRPr>
            </a:pPr>
            <a:r>
              <a:t>WiLoR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5212080"/>
            <a:ext cx="100584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218BC4"/>
                </a:solidFill>
                <a:latin typeface="Microsoft YaHei"/>
              </a:defRPr>
            </a:pPr>
            <a:r>
              <a:t>微调</a:t>
            </a:r>
          </a:p>
          <a:p>
            <a:pPr>
              <a:spcAft>
                <a:spcPts val="300"/>
              </a:spcAft>
              <a:defRPr sz="1800" b="1">
                <a:solidFill>
                  <a:srgbClr val="218BC4"/>
                </a:solidFill>
                <a:latin typeface="Microsoft YaHei"/>
              </a:defRPr>
            </a:pPr>
            <a:r>
              <a:t>WiLoR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417320"/>
            <a:ext cx="192024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S036 · F174 · L</a:t>
            </a:r>
          </a:p>
        </p:txBody>
      </p:sp>
      <p:pic>
        <p:nvPicPr>
          <p:cNvPr id="11" name="Picture 10" descr="178_orig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776" y="1645920"/>
            <a:ext cx="1353312" cy="1353312"/>
          </a:xfrm>
          <a:prstGeom prst="rect">
            <a:avLst/>
          </a:prstGeom>
        </p:spPr>
      </p:pic>
      <p:pic>
        <p:nvPicPr>
          <p:cNvPr id="12" name="Picture 11" descr="178_offici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776" y="3200400"/>
            <a:ext cx="1353312" cy="1353312"/>
          </a:xfrm>
          <a:prstGeom prst="rect">
            <a:avLst/>
          </a:prstGeom>
        </p:spPr>
      </p:pic>
      <p:pic>
        <p:nvPicPr>
          <p:cNvPr id="13" name="Picture 12" descr="178_finetun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6776" y="4754880"/>
            <a:ext cx="1353312" cy="135331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63677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8249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56.1 px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3677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8249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26.9 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1417320"/>
            <a:ext cx="192024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S036 · F474 · L</a:t>
            </a:r>
          </a:p>
        </p:txBody>
      </p:sp>
      <p:pic>
        <p:nvPicPr>
          <p:cNvPr id="19" name="Picture 18" descr="276_origi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9896" y="1645920"/>
            <a:ext cx="1353312" cy="1353312"/>
          </a:xfrm>
          <a:prstGeom prst="rect">
            <a:avLst/>
          </a:prstGeom>
        </p:spPr>
      </p:pic>
      <p:pic>
        <p:nvPicPr>
          <p:cNvPr id="20" name="Picture 19" descr="276_officia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9896" y="3200400"/>
            <a:ext cx="1353312" cy="1353312"/>
          </a:xfrm>
          <a:prstGeom prst="rect">
            <a:avLst/>
          </a:prstGeom>
        </p:spPr>
      </p:pic>
      <p:pic>
        <p:nvPicPr>
          <p:cNvPr id="21" name="Picture 20" descr="276_finetuned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9896" y="4754880"/>
            <a:ext cx="1353312" cy="135331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73989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85615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38.9 px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3989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5615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21.0 px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1417320"/>
            <a:ext cx="192024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S019 · F300 · R</a:t>
            </a:r>
          </a:p>
        </p:txBody>
      </p:sp>
      <p:pic>
        <p:nvPicPr>
          <p:cNvPr id="27" name="Picture 26" descr="45_original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43016" y="1645920"/>
            <a:ext cx="1353312" cy="1353312"/>
          </a:xfrm>
          <a:prstGeom prst="rect">
            <a:avLst/>
          </a:prstGeom>
        </p:spPr>
      </p:pic>
      <p:pic>
        <p:nvPicPr>
          <p:cNvPr id="28" name="Picture 27" descr="45_official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3016" y="3200400"/>
            <a:ext cx="1353312" cy="1353312"/>
          </a:xfrm>
          <a:prstGeom prst="rect">
            <a:avLst/>
          </a:prstGeom>
        </p:spPr>
      </p:pic>
      <p:pic>
        <p:nvPicPr>
          <p:cNvPr id="29" name="Picture 28" descr="45_finetuned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43016" y="4754880"/>
            <a:ext cx="1353312" cy="1353312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84301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873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33.3 px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4301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8873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29.9 px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1417320"/>
            <a:ext cx="192024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S019 · F612 · R</a:t>
            </a:r>
          </a:p>
        </p:txBody>
      </p:sp>
      <p:pic>
        <p:nvPicPr>
          <p:cNvPr id="35" name="Picture 34" descr="94_original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6136" y="1645920"/>
            <a:ext cx="1353312" cy="1353312"/>
          </a:xfrm>
          <a:prstGeom prst="rect">
            <a:avLst/>
          </a:prstGeom>
        </p:spPr>
      </p:pic>
      <p:pic>
        <p:nvPicPr>
          <p:cNvPr id="36" name="Picture 35" descr="94_officia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46136" y="3200400"/>
            <a:ext cx="1353312" cy="1353312"/>
          </a:xfrm>
          <a:prstGeom prst="rect">
            <a:avLst/>
          </a:prstGeom>
        </p:spPr>
      </p:pic>
      <p:pic>
        <p:nvPicPr>
          <p:cNvPr id="37" name="Picture 36" descr="94_finetuned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46136" y="4754880"/>
            <a:ext cx="1353312" cy="1353312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794613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37.4 px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4613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9185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37.0 px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5792" y="1417320"/>
            <a:ext cx="192024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S036 · F636 · L</a:t>
            </a:r>
          </a:p>
        </p:txBody>
      </p:sp>
      <p:pic>
        <p:nvPicPr>
          <p:cNvPr id="43" name="Picture 42" descr="330_original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49256" y="1645920"/>
            <a:ext cx="1353312" cy="1353312"/>
          </a:xfrm>
          <a:prstGeom prst="rect">
            <a:avLst/>
          </a:prstGeom>
        </p:spPr>
      </p:pic>
      <p:pic>
        <p:nvPicPr>
          <p:cNvPr id="44" name="Picture 43" descr="330_official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49256" y="3200400"/>
            <a:ext cx="1353312" cy="1353312"/>
          </a:xfrm>
          <a:prstGeom prst="rect">
            <a:avLst/>
          </a:prstGeom>
        </p:spPr>
      </p:pic>
      <p:pic>
        <p:nvPicPr>
          <p:cNvPr id="45" name="Picture 44" descr="330_finetuned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49256" y="4754880"/>
            <a:ext cx="1353312" cy="1353312"/>
          </a:xfrm>
          <a:prstGeom prst="rect">
            <a:avLst/>
          </a:prstGeom>
        </p:spPr>
      </p:pic>
      <p:sp>
        <p:nvSpPr>
          <p:cNvPr id="46" name="Rectangle 45"/>
          <p:cNvSpPr/>
          <p:nvPr/>
        </p:nvSpPr>
        <p:spPr>
          <a:xfrm>
            <a:off x="1004925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9497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46.2 px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4925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9497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31.9 px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283F"/>
                </a:solidFill>
                <a:latin typeface="Microsoft YaHei"/>
              </a:defRPr>
            </a:pPr>
            <a:r>
              <a:t>官方 WiLoR 最差案例｜微调后是否改善？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77824"/>
            <a:ext cx="11247120" cy="5486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26478"/>
                </a:solidFill>
                <a:latin typeface="Microsoft YaHei"/>
              </a:defRPr>
            </a:pPr>
            <a:r>
              <a:t>按官方二维误差降序，选取 4 个不同时间点展示（同录像间隔至少 1 秒），避免相邻帧重复。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9672"/>
            <a:ext cx="108813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26478"/>
                </a:solidFill>
                <a:latin typeface="Microsoft YaHei"/>
              </a:defRPr>
            </a:pPr>
            <a:r>
              <a:t>验证集 · 统一检测框紧裁剪 · 误差以数据集 MANO 拟合标注为参考；图片不显示标注骨架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3657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526478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03120"/>
            <a:ext cx="100584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526478"/>
                </a:solidFill>
                <a:latin typeface="Microsoft YaHei"/>
              </a:defRPr>
            </a:pPr>
            <a:r>
              <a:t>原图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657600"/>
            <a:ext cx="100584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DB7D29"/>
                </a:solidFill>
                <a:latin typeface="Microsoft YaHei"/>
              </a:defRPr>
            </a:pPr>
            <a:r>
              <a:t>官方</a:t>
            </a:r>
          </a:p>
          <a:p>
            <a:pPr>
              <a:spcAft>
                <a:spcPts val="300"/>
              </a:spcAft>
              <a:defRPr sz="1800" b="1">
                <a:solidFill>
                  <a:srgbClr val="DB7D29"/>
                </a:solidFill>
                <a:latin typeface="Microsoft YaHei"/>
              </a:defRPr>
            </a:pPr>
            <a:r>
              <a:t>WiLoR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5212080"/>
            <a:ext cx="100584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218BC4"/>
                </a:solidFill>
                <a:latin typeface="Microsoft YaHei"/>
              </a:defRPr>
            </a:pPr>
            <a:r>
              <a:t>微调</a:t>
            </a:r>
          </a:p>
          <a:p>
            <a:pPr>
              <a:spcAft>
                <a:spcPts val="300"/>
              </a:spcAft>
              <a:defRPr sz="1800" b="1">
                <a:solidFill>
                  <a:srgbClr val="218BC4"/>
                </a:solidFill>
                <a:latin typeface="Microsoft YaHei"/>
              </a:defRPr>
            </a:pPr>
            <a:r>
              <a:t>WiLoR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417320"/>
            <a:ext cx="244602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S019 · F276 · R</a:t>
            </a:r>
          </a:p>
        </p:txBody>
      </p:sp>
      <p:pic>
        <p:nvPicPr>
          <p:cNvPr id="11" name="Picture 10" descr="41_orig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666" y="1645920"/>
            <a:ext cx="1353312" cy="1353312"/>
          </a:xfrm>
          <a:prstGeom prst="rect">
            <a:avLst/>
          </a:prstGeom>
        </p:spPr>
      </p:pic>
      <p:pic>
        <p:nvPicPr>
          <p:cNvPr id="12" name="Picture 11" descr="41_offici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9666" y="3200400"/>
            <a:ext cx="1353312" cy="1353312"/>
          </a:xfrm>
          <a:prstGeom prst="rect">
            <a:avLst/>
          </a:prstGeom>
        </p:spPr>
      </p:pic>
      <p:pic>
        <p:nvPicPr>
          <p:cNvPr id="13" name="Picture 12" descr="41_finetun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9666" y="4754880"/>
            <a:ext cx="1353312" cy="135331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89966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538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184.4 px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966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4538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40.5 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2212" y="1417320"/>
            <a:ext cx="244602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S036 · F504 · R</a:t>
            </a:r>
          </a:p>
        </p:txBody>
      </p:sp>
      <p:pic>
        <p:nvPicPr>
          <p:cNvPr id="19" name="Picture 18" descr="287_origi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8566" y="1645920"/>
            <a:ext cx="1353312" cy="1353312"/>
          </a:xfrm>
          <a:prstGeom prst="rect">
            <a:avLst/>
          </a:prstGeom>
        </p:spPr>
      </p:pic>
      <p:pic>
        <p:nvPicPr>
          <p:cNvPr id="20" name="Picture 19" descr="287_officia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8566" y="3200400"/>
            <a:ext cx="1353312" cy="1353312"/>
          </a:xfrm>
          <a:prstGeom prst="rect">
            <a:avLst/>
          </a:prstGeom>
        </p:spPr>
      </p:pic>
      <p:pic>
        <p:nvPicPr>
          <p:cNvPr id="21" name="Picture 20" descr="287_finetuned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8566" y="4754880"/>
            <a:ext cx="1353312" cy="135331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2856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428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121.8 px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856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428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28.0 px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1112" y="1417320"/>
            <a:ext cx="244602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S019 · F786 · R</a:t>
            </a:r>
          </a:p>
        </p:txBody>
      </p:sp>
      <p:pic>
        <p:nvPicPr>
          <p:cNvPr id="27" name="Picture 26" descr="123_original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57466" y="1645920"/>
            <a:ext cx="1353312" cy="1353312"/>
          </a:xfrm>
          <a:prstGeom prst="rect">
            <a:avLst/>
          </a:prstGeom>
        </p:spPr>
      </p:pic>
      <p:pic>
        <p:nvPicPr>
          <p:cNvPr id="28" name="Picture 27" descr="123_official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57466" y="3200400"/>
            <a:ext cx="1353312" cy="1353312"/>
          </a:xfrm>
          <a:prstGeom prst="rect">
            <a:avLst/>
          </a:prstGeom>
        </p:spPr>
      </p:pic>
      <p:pic>
        <p:nvPicPr>
          <p:cNvPr id="29" name="Picture 28" descr="123_finetuned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57466" y="4754880"/>
            <a:ext cx="1353312" cy="1353312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715746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0318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105.8 px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746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0318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43.4 px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0012" y="1417320"/>
            <a:ext cx="244602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S036 · F210 · R</a:t>
            </a:r>
          </a:p>
        </p:txBody>
      </p:sp>
      <p:pic>
        <p:nvPicPr>
          <p:cNvPr id="35" name="Picture 34" descr="191_original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86366" y="1645920"/>
            <a:ext cx="1353312" cy="1353312"/>
          </a:xfrm>
          <a:prstGeom prst="rect">
            <a:avLst/>
          </a:prstGeom>
        </p:spPr>
      </p:pic>
      <p:pic>
        <p:nvPicPr>
          <p:cNvPr id="36" name="Picture 35" descr="191_officia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86366" y="3200400"/>
            <a:ext cx="1353312" cy="1353312"/>
          </a:xfrm>
          <a:prstGeom prst="rect">
            <a:avLst/>
          </a:prstGeom>
        </p:spPr>
      </p:pic>
      <p:pic>
        <p:nvPicPr>
          <p:cNvPr id="37" name="Picture 36" descr="191_finetuned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86366" y="4754880"/>
            <a:ext cx="1353312" cy="1353312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78636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3208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99.0 px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8636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3208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36.1 px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283F"/>
                </a:solidFill>
                <a:latin typeface="Microsoft YaHei"/>
              </a:defRPr>
            </a:pPr>
            <a:r>
              <a:t>微调 WiLoR 最差案例｜仍有哪些失败？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77824"/>
            <a:ext cx="11247120" cy="5486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26478"/>
                </a:solidFill>
                <a:latin typeface="Microsoft YaHei"/>
              </a:defRPr>
            </a:pPr>
            <a:r>
              <a:t>按微调二维误差降序，选取 4 个不同时间点；这些是当前模型的困难案例，不代表整体平均效果。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9672"/>
            <a:ext cx="108813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26478"/>
                </a:solidFill>
                <a:latin typeface="Microsoft YaHei"/>
              </a:defRPr>
            </a:pPr>
            <a:r>
              <a:t>验证集 · 统一检测框紧裁剪 · 误差以数据集 MANO 拟合标注为参考；图片不显示标注骨架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3657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526478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03120"/>
            <a:ext cx="100584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526478"/>
                </a:solidFill>
                <a:latin typeface="Microsoft YaHei"/>
              </a:defRPr>
            </a:pPr>
            <a:r>
              <a:t>原图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657600"/>
            <a:ext cx="100584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DB7D29"/>
                </a:solidFill>
                <a:latin typeface="Microsoft YaHei"/>
              </a:defRPr>
            </a:pPr>
            <a:r>
              <a:t>官方</a:t>
            </a:r>
          </a:p>
          <a:p>
            <a:pPr>
              <a:spcAft>
                <a:spcPts val="300"/>
              </a:spcAft>
              <a:defRPr sz="1800" b="1">
                <a:solidFill>
                  <a:srgbClr val="DB7D29"/>
                </a:solidFill>
                <a:latin typeface="Microsoft YaHei"/>
              </a:defRPr>
            </a:pPr>
            <a:r>
              <a:t>WiLoR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5212080"/>
            <a:ext cx="1005840" cy="6400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218BC4"/>
                </a:solidFill>
                <a:latin typeface="Microsoft YaHei"/>
              </a:defRPr>
            </a:pPr>
            <a:r>
              <a:t>微调</a:t>
            </a:r>
          </a:p>
          <a:p>
            <a:pPr>
              <a:spcAft>
                <a:spcPts val="300"/>
              </a:spcAft>
              <a:defRPr sz="1800" b="1">
                <a:solidFill>
                  <a:srgbClr val="218BC4"/>
                </a:solidFill>
                <a:latin typeface="Microsoft YaHei"/>
              </a:defRPr>
            </a:pPr>
            <a:r>
              <a:t>WiLoR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417320"/>
            <a:ext cx="244602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S036 · F450 · L</a:t>
            </a:r>
          </a:p>
        </p:txBody>
      </p:sp>
      <p:pic>
        <p:nvPicPr>
          <p:cNvPr id="11" name="Picture 10" descr="268_orig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666" y="1645920"/>
            <a:ext cx="1353312" cy="1353312"/>
          </a:xfrm>
          <a:prstGeom prst="rect">
            <a:avLst/>
          </a:prstGeom>
        </p:spPr>
      </p:pic>
      <p:pic>
        <p:nvPicPr>
          <p:cNvPr id="12" name="Picture 11" descr="268_offici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9666" y="3200400"/>
            <a:ext cx="1353312" cy="1353312"/>
          </a:xfrm>
          <a:prstGeom prst="rect">
            <a:avLst/>
          </a:prstGeom>
        </p:spPr>
      </p:pic>
      <p:pic>
        <p:nvPicPr>
          <p:cNvPr id="13" name="Picture 12" descr="268_finetun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9666" y="4754880"/>
            <a:ext cx="1353312" cy="135331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89966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538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98.1 px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966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4538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97.6 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2212" y="1417320"/>
            <a:ext cx="244602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S036 · F282 · L</a:t>
            </a:r>
          </a:p>
        </p:txBody>
      </p:sp>
      <p:pic>
        <p:nvPicPr>
          <p:cNvPr id="19" name="Picture 18" descr="212_origi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8566" y="1645920"/>
            <a:ext cx="1353312" cy="1353312"/>
          </a:xfrm>
          <a:prstGeom prst="rect">
            <a:avLst/>
          </a:prstGeom>
        </p:spPr>
      </p:pic>
      <p:pic>
        <p:nvPicPr>
          <p:cNvPr id="20" name="Picture 19" descr="212_officia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8566" y="3200400"/>
            <a:ext cx="1353312" cy="1353312"/>
          </a:xfrm>
          <a:prstGeom prst="rect">
            <a:avLst/>
          </a:prstGeom>
        </p:spPr>
      </p:pic>
      <p:pic>
        <p:nvPicPr>
          <p:cNvPr id="21" name="Picture 20" descr="212_finetuned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8566" y="4754880"/>
            <a:ext cx="1353312" cy="135331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2856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428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90.1 px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856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428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73.4 px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1112" y="1417320"/>
            <a:ext cx="244602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S036 · F324 · L</a:t>
            </a:r>
          </a:p>
        </p:txBody>
      </p:sp>
      <p:pic>
        <p:nvPicPr>
          <p:cNvPr id="27" name="Picture 26" descr="226_original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57466" y="1645920"/>
            <a:ext cx="1353312" cy="1353312"/>
          </a:xfrm>
          <a:prstGeom prst="rect">
            <a:avLst/>
          </a:prstGeom>
        </p:spPr>
      </p:pic>
      <p:pic>
        <p:nvPicPr>
          <p:cNvPr id="28" name="Picture 27" descr="226_official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57466" y="3200400"/>
            <a:ext cx="1353312" cy="1353312"/>
          </a:xfrm>
          <a:prstGeom prst="rect">
            <a:avLst/>
          </a:prstGeom>
        </p:spPr>
      </p:pic>
      <p:pic>
        <p:nvPicPr>
          <p:cNvPr id="29" name="Picture 28" descr="226_finetuned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57466" y="4754880"/>
            <a:ext cx="1353312" cy="1353312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715746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0318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75.6 px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746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0318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70.3 px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0012" y="1417320"/>
            <a:ext cx="2446020" cy="2743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26478"/>
                </a:solidFill>
                <a:latin typeface="Microsoft YaHei"/>
              </a:defRPr>
            </a:pPr>
            <a:r>
              <a:t>S036 · F354 · L</a:t>
            </a:r>
          </a:p>
        </p:txBody>
      </p:sp>
      <p:pic>
        <p:nvPicPr>
          <p:cNvPr id="35" name="Picture 34" descr="236_original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86366" y="1645920"/>
            <a:ext cx="1353312" cy="1353312"/>
          </a:xfrm>
          <a:prstGeom prst="rect">
            <a:avLst/>
          </a:prstGeom>
        </p:spPr>
      </p:pic>
      <p:pic>
        <p:nvPicPr>
          <p:cNvPr id="36" name="Picture 35" descr="236_officia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86366" y="3200400"/>
            <a:ext cx="1353312" cy="1353312"/>
          </a:xfrm>
          <a:prstGeom prst="rect">
            <a:avLst/>
          </a:prstGeom>
        </p:spPr>
      </p:pic>
      <p:pic>
        <p:nvPicPr>
          <p:cNvPr id="37" name="Picture 36" descr="236_finetuned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86366" y="4754880"/>
            <a:ext cx="1353312" cy="1353312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786366" y="455371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32086" y="456285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B7D29"/>
                </a:solidFill>
                <a:latin typeface="Microsoft YaHei"/>
              </a:defRPr>
            </a:pPr>
            <a:r>
              <a:t>74.8 px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86366" y="6108192"/>
            <a:ext cx="1353312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32086" y="6117336"/>
            <a:ext cx="1261872" cy="201168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18BC4"/>
                </a:solidFill>
                <a:latin typeface="Microsoft YaHei"/>
              </a:defRPr>
            </a:pPr>
            <a:r>
              <a:t>67.0 px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283F"/>
                </a:solidFill>
                <a:latin typeface="Microsoft YaHei"/>
              </a:defRPr>
            </a:pPr>
            <a:r>
              <a:t>当前结论与下一步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77824"/>
            <a:ext cx="11247120" cy="5486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26478"/>
                </a:solidFill>
                <a:latin typeface="Microsoft YaHei"/>
              </a:defRPr>
            </a:pPr>
            <a:r>
              <a:t>已完成裁剪统一；继续围绕手套场景的实际效果验证改进。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9672"/>
            <a:ext cx="108813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26478"/>
                </a:solidFill>
                <a:latin typeface="Microsoft YaHei"/>
              </a:defRPr>
            </a:pPr>
            <a:r>
              <a:t>验证集 · 统一检测框紧裁剪 · 误差以数据集 MANO 拟合标注为参考；图片不显示标注骨架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365760" cy="2286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526478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502920" cy="50292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74320" cy="3657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91640"/>
            <a:ext cx="10058400" cy="457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300" b="1">
                <a:solidFill>
                  <a:srgbClr val="14283F"/>
                </a:solidFill>
                <a:latin typeface="Microsoft YaHei"/>
              </a:defRPr>
            </a:pPr>
            <a:r>
              <a:t>已完成：统一训练与推理裁剪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58568"/>
            <a:ext cx="1005840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526478"/>
                </a:solidFill>
                <a:latin typeface="Microsoft YaHei"/>
              </a:defRPr>
            </a:pPr>
            <a:r>
              <a:t>正方形框 ×1.25；两模型使用同一检测框，平均二维误差下降约25%。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971800"/>
            <a:ext cx="502920" cy="50292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017520"/>
            <a:ext cx="274320" cy="3657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10058400" cy="457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300" b="1">
                <a:solidFill>
                  <a:srgbClr val="14283F"/>
                </a:solidFill>
                <a:latin typeface="Microsoft YaHei"/>
              </a:defRPr>
            </a:pPr>
            <a:r>
              <a:t>下一步：改善定位与框变化适应性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538728"/>
            <a:ext cx="1005840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526478"/>
                </a:solidFill>
                <a:latin typeface="Microsoft YaHei"/>
              </a:defRPr>
            </a:pPr>
            <a:r>
              <a:t>在后续微调中加入检测框中心、尺度扰动，同时监测原图投影和手腕偏差。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4251960"/>
            <a:ext cx="502920" cy="50292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274320" cy="3657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60"/>
            <a:ext cx="10058400" cy="4572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2300" b="1">
                <a:solidFill>
                  <a:srgbClr val="14283F"/>
                </a:solidFill>
                <a:latin typeface="Microsoft YaHei"/>
              </a:defRPr>
            </a:pPr>
            <a:r>
              <a:t>最后：用新的留出录像确认收益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18888"/>
            <a:ext cx="10058400" cy="5029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526478"/>
                </a:solidFill>
                <a:latin typeface="Microsoft YaHei"/>
              </a:defRPr>
            </a:pPr>
            <a:r>
              <a:t>检查未见过的手套姿态和裸手表现，再决定是否替换官方模型。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833872"/>
            <a:ext cx="10972800" cy="4114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26478"/>
                </a:solidFill>
                <a:latin typeface="Microsoft YaHei"/>
              </a:defRPr>
            </a:pPr>
            <a:r>
              <a:t>当前限制：平均改善不代表每帧更好；手腕定位与裸手表现仍有退化，参考标注也存在误差。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