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Sources: local evaluation reports and saved model configurations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Sources: demo.py; hamer_official/code/demo.py; wilor/models/wilor.py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Sources: logs/train/runs/wilor_freihand_full_3gpu/{model_config.yaml,dataset_config.yaml,exec_time.log}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Source: evaluation/freihand_full_comparison_corrected/metrics.csv; projection_audit/report.md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Sources: evaluation/scale_diagnostic/fixed_inputs/manifest.json; predictions/*/provenance.json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Source: evaluation/scale_diagnostic/report_stage2.md; predictions/*/metrics.csv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Source: evaluation/scale_diagnostic/camera_swap/{per_sample.csv,report.md}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Source: evaluation/scale_diagnostic/camera_swap/test1_000.jpg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Source: evaluation/scale_diagnostic/betas_ablation/{per_sample.csv,report.md}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Source: evaluation/scale_diagnostic/pose_ablation/{per_sample.csv,report.md}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Sources: pose_ablation/test1_000.jpg; betas_ablation/test1_000.jpg (under evaluation/scale_diagnostic)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Sources: evaluation/freihand_annotated_interventions_full/{summary.csv,provenance.json}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Sources: evaluation/freihand_annotated_interventions_full/{paired_summary.csv,report.md}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Sources: evaluation/freihand_loss_gradient_audit/{summary.csv,report.md,provenance.json}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Sources: full annotated intervention and loss-gradient audit; proposed experiment, not yet run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Sources: full annotated intervention, loss-gradient audit and all local scale_diagnostic reports</a:t>
            </a:r>
          </a:p>
          <a:p>
            <a:r>
              <a:t>Local project root: /data/xjiang390/projects/WiLoR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WiLoR reconstruction: training and scale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Research update | Official WiLoR, official HaMeR and a FreiHAND-trained WiLoR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Sources: local evaluation reports and saved model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007F86"/>
                </a:solidFill>
                <a:latin typeface="Aptos"/>
              </a:defRPr>
            </a:pPr>
            <a:r>
              <a:t>What explains the smaller projected hands?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243A"/>
                </a:solidFill>
                <a:latin typeface="Aptos"/>
              </a:defRPr>
            </a:pPr>
            <a:r>
              <a:t>Training learns useful reconstruction, but official WiLoR remains stronger on the local validation split.</a:t>
            </a:r>
          </a:p>
          <a:p>
            <a:pPr>
              <a:spcAft>
                <a:spcPts val="1200"/>
              </a:spcAft>
              <a:defRPr sz="2300" b="0">
                <a:solidFill>
                  <a:srgbClr val="17243A"/>
                </a:solidFill>
                <a:latin typeface="Aptos"/>
              </a:defRPr>
            </a:pPr>
            <a:r>
              <a:t>Full annotation interventions identify pose—especially finger articulation—as the main in-domain gap.</a:t>
            </a:r>
          </a:p>
          <a:p>
            <a:pPr>
              <a:spcAft>
                <a:spcPts val="1200"/>
              </a:spcAft>
              <a:defRPr sz="2300" b="0">
                <a:solidFill>
                  <a:srgbClr val="17243A"/>
                </a:solidFill>
                <a:latin typeface="Aptos"/>
              </a:defRPr>
            </a:pPr>
            <a:r>
              <a:t>The apparent demo shrinkage is not a systematic FreiHAND scale bias; camera and geometry are co-adapted.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8677B"/>
                </a:solidFill>
                <a:latin typeface="Aptos"/>
              </a:defRPr>
            </a:pPr>
            <a:r>
              <a:t>Evidence: 10,240 annotated validation samples + 45 fixed hand proposals from 8 demo images.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Three models, two different comparison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Distinguish full detection pipelines from controlled reconstruction experiments.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Sources: demo.py; hamer_official/code/demo.py; wilor/models/wilor.py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69494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Official HaMeR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Official WiLoR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Self-trained WiLoR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Demo localization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Person detector → ViTPose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YOLO hand detector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Same WiLoR detector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Reconstruction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ViT + MANO head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Initial prediction + refinement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WiLoR architecture + refinement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Weights used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 released checkpoint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 released checkpoint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ViTPose initialization; FreiHAND training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Current ablations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Reference betas / final output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Reference before / after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Model under diagnosis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486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07F86"/>
                </a:solidFill>
                <a:latin typeface="Aptos"/>
              </a:defRPr>
            </a:pPr>
            <a:r>
              <a:t>For diagnosis, all three consume the same saved crop tensors. HaMeR here is a reconstruction reference, not its full detection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Self-training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Configuration facts, not a claim of reproducing the official training recipe.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Sources: logs/train/runs/wilor_freihand_full_3gpu/{model_config.yaml,dataset_config.yaml,exec_time.log}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6823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Configuration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Data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FreiHAND only; weight 1.0; train shards 000–119, validation 120–130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Initialization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ViTPose backbone initialization; WiLoR reconstruction/refinement trained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Compute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3 × B200; batch 8/GPU (24 total); FP16 mixed precision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Optimization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AdamW; LR 1e-5; weight decay 1e-4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Run settings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Configured max_steps=100,000; recorded execution time 2.64 h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Betas loss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Configured weight 0.0005; magnitude alone cannot establish weak supervision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760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8677B"/>
                </a:solidFill>
                <a:latin typeface="Aptos"/>
              </a:defRPr>
            </a:pPr>
            <a:r>
              <a:t>Manual optimization uses generator + discriminator updates; max_steps is not independently verified as 100k generator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Local FreiHAND validation: learning works, a gap remains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10,240 historical samples. Reprojection corrected arithmetically; no new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Source: evaluation/freihand_full_comparison_corrected/metrics.csv; projection_audit/report.md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MPJPE mm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PA-MPJPE mm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PVE mm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Reproj.¹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ViTPose init + random head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131.683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21.817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127.403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172.234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Self-trained WiLoR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9.626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6.018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9.075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6.743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 WiLoR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4.218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3.370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4.139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3.192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389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7F86"/>
                </a:solidFill>
                <a:latin typeface="Aptos"/>
              </a:defRPr>
            </a:pPr>
            <a:r>
              <a:t>MPJPE improves 92.7% over initialization; self-trained error is 2.28× the official checkpoint.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8677B"/>
                </a:solidFill>
                <a:latin typeface="Aptos"/>
              </a:defRPr>
            </a:pPr>
            <a:r>
              <a:t>Internal shard split, not the official benchmark. Capture independence and official training overlap remain unaudited; no HaMeR evaluation in this table.</a:t>
            </a:r>
          </a:p>
          <a:p>
            <a:pPr>
              <a:spcAft>
                <a:spcPts val="1200"/>
              </a:spcAft>
              <a:defRPr sz="1400" b="0">
                <a:solidFill>
                  <a:srgbClr val="58677B"/>
                </a:solidFill>
                <a:latin typeface="Aptos"/>
              </a:defRPr>
            </a:pPr>
            <a:r>
              <a:t>¹ Corrected crop-pixel error: old values ×2. Training loss and 3D metrics are unchanged.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Controlled diagnostic: identical reconstruction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Freeze the input before interpreting differences in the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Sources: evaluation/scale_diagnostic/fixed_inputs/manifest.json; predictions/*/provenance.json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243A"/>
                </a:solidFill>
                <a:latin typeface="Aptos"/>
              </a:defRPr>
            </a:pPr>
            <a:r>
              <a:t>45 detector proposals from 8 images; left/right label and crop transform saved.</a:t>
            </a:r>
          </a:p>
          <a:p>
            <a:pPr>
              <a:spcAft>
                <a:spcPts val="1200"/>
              </a:spcAft>
              <a:defRPr sz="2300" b="0">
                <a:solidFill>
                  <a:srgbClr val="17243A"/>
                </a:solidFill>
                <a:latin typeface="Aptos"/>
              </a:defRPr>
            </a:pPr>
            <a:r>
              <a:t>WiLoR and HaMeR crop tensors match exactly: maximum absolute difference = 0.</a:t>
            </a:r>
          </a:p>
          <a:p>
            <a:pPr>
              <a:spcAft>
                <a:spcPts val="1200"/>
              </a:spcAft>
              <a:defRPr sz="2300" b="0">
                <a:solidFill>
                  <a:srgbClr val="17243A"/>
                </a:solidFill>
                <a:latin typeface="Aptos"/>
              </a:defRPr>
            </a:pPr>
            <a:r>
              <a:t>FP32 inference, TF32 disabled, layer skipping disabled; input hashes verified.</a:t>
            </a:r>
          </a:p>
          <a:p>
            <a:pPr>
              <a:spcAft>
                <a:spcPts val="1200"/>
              </a:spcAft>
              <a:defRPr sz="2300" b="0">
                <a:solidFill>
                  <a:srgbClr val="17243A"/>
                </a:solidFill>
                <a:latin typeface="Aptos"/>
              </a:defRPr>
            </a:pPr>
            <a:r>
              <a:t>225 outputs: WiLoR official 90 + self-trained 90 + HaMeR 45.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“Size” = diagonal of the projected joint bounding box. This depends on camera, shape and pose; it is not anatomical hand size. Proposals may include false positives.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Refinement expands the self-trained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The discrepancy is already present before refinement.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Source: evaluation/scale_diagnostic/report_stage2.md; predictions/*/metrics.csv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257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2D extent px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3D diagonal m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beta norm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before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179.24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0.2180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0.199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after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176.71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0.2188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0.091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trained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before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132.45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0.2076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1.853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trained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after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168.57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0.2203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2.144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hamer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final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178.61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0.2190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0.163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120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07F86"/>
                </a:solidFill>
                <a:latin typeface="Aptos"/>
              </a:defRPr>
            </a:pPr>
            <a:r>
              <a:t>Trained before / official before: median 72.20% (45/45 smaller).</a:t>
            </a:r>
          </a:p>
          <a:p>
            <a:pPr>
              <a:spcAft>
                <a:spcPts val="1200"/>
              </a:spcAft>
              <a:defRPr sz="2000" b="0">
                <a:solidFill>
                  <a:srgbClr val="007F86"/>
                </a:solidFill>
                <a:latin typeface="Aptos"/>
              </a:defRPr>
            </a:pPr>
            <a:r>
              <a:t>Trained after / before: median 135.50%; after / official after: 93.61% (30/45 smaller).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Demo camera swap raised a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Keep geometry fixed and replace only the saved camera translation.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Source: evaluation/scale_diagnostic/camera_swap/{per_sample.csv,report.md}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669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Geometry (pose + shape)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Median extent / official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100.00%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trained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trained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93.61%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trained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98.83%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trained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97.94%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892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07F86"/>
                </a:solidFill>
                <a:latin typeface="Aptos"/>
              </a:defRPr>
            </a:pPr>
            <a:r>
              <a:t>The trained geometry reaches 98.83% of the official extent with the official camera, versus 93.61% with its own.</a:t>
            </a:r>
          </a:p>
          <a:p>
            <a:pPr>
              <a:spcAft>
                <a:spcPts val="1200"/>
              </a:spcAft>
              <a:defRPr sz="2000" b="0">
                <a:solidFill>
                  <a:srgbClr val="007F86"/>
                </a:solidFill>
                <a:latin typeface="Aptos"/>
              </a:defRPr>
            </a:pPr>
            <a:r>
              <a:t>This visual-reference result is not a ground-truth accuracy test; the full annotated intervention later shows that the swap worsens reprojection.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Camera swap: a fixed-sample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test1_000 | Gray: official reference joints. Green: tested combination.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Source: evaluation/scale_diagnostic/camera_swap/test1_000.jpg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6" name="Picture 5" descr="test1_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1600200"/>
            <a:ext cx="11155680" cy="31375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8677B"/>
                </a:solidFill>
                <a:latin typeface="Aptos"/>
              </a:defRPr>
            </a:pPr>
            <a:r>
              <a:t>Left to right: official / official; trained / trained; trained / official; official / trained.</a:t>
            </a:r>
          </a:p>
          <a:p>
            <a:pPr>
              <a:spcAft>
                <a:spcPts val="1200"/>
              </a:spcAft>
              <a:defRPr sz="1800" b="0">
                <a:solidFill>
                  <a:srgbClr val="58677B"/>
                </a:solidFill>
                <a:latin typeface="Aptos"/>
              </a:defRPr>
            </a:pPr>
            <a:r>
              <a:t>This example illustrates the intervention; aggregate statistics use all 45 proposals.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Betas swap: limited median effect on projected extent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Hold the trained pose and camera fixed; change only the 10 MANO shape coefficients.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Source: evaluation/scale_diagnostic/betas_ablation/{per_sample.csv,report.md}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Betas source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Median projected extent change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Median palm-width change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+0.48%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+1.76%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hamer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+0.39%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+2.03%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zero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+0.43%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+1.91%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2976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07F86"/>
                </a:solidFill>
                <a:latin typeface="Aptos"/>
              </a:defRPr>
            </a:pPr>
            <a:r>
              <a:t>Official betas: only 15/45 samples move closer to official projected size.</a:t>
            </a:r>
          </a:p>
          <a:p>
            <a:pPr>
              <a:spcAft>
                <a:spcPts val="1200"/>
              </a:spcAft>
              <a:defRPr sz="2100" b="0">
                <a:solidFill>
                  <a:srgbClr val="007F86"/>
                </a:solidFill>
                <a:latin typeface="Aptos"/>
              </a:defRPr>
            </a:pPr>
            <a:r>
              <a:t>Effects vary: P10–P90 extent change ≈ −4.7% to +10.1%.</a:t>
            </a:r>
          </a:p>
          <a:p>
            <a:pPr>
              <a:spcAft>
                <a:spcPts val="1200"/>
              </a:spcAft>
              <a:defRPr sz="2100" b="0">
                <a:solidFill>
                  <a:srgbClr val="007F86"/>
                </a:solidFill>
                <a:latin typeface="Aptos"/>
              </a:defRPr>
            </a:pPr>
            <a:r>
              <a:t>A larger beta norm does not prove shape failure or justify increasing the beta loss weight.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Demo pose swap raised an orientation 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Hold the trained betas and camera fixed; replace global and/or local rotations.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Source: evaluation/scale_diagnostic/pose_ablation/{per_sample.csv,report.md}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6172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Replacement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Change vs trained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Extent / official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Closer to official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Global orientation only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+2.61%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98.76%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28/45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Finger articulation only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-1.58%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93.46%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21/45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Both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+0.95%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97.20%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29/45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4805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Orientation-only replacement brings the paired median extent ratio to 98.76% of official.</a:t>
            </a:r>
          </a:p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This measures agreement with another model, not ground truth. Full annotated results show finger pose is the clearer accuracy limitation.</a:t>
            </a:r>
          </a:p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Changes interact; medians and their percentages must not be added.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Pose and betas: visual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Same sample and fixed display window; gray is the trained baseline, green is the intervention.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Sources: pose_ablation/test1_000.jpg; betas_ablation/test1_000.jpg (under evaluation/scale_diagnostic)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07F86"/>
                </a:solidFill>
                <a:latin typeface="Aptos"/>
              </a:defRPr>
            </a:pPr>
            <a:r>
              <a:t>POSE: baseline | official orientation | official fingers | both</a:t>
            </a:r>
          </a:p>
        </p:txBody>
      </p:sp>
      <p:pic>
        <p:nvPicPr>
          <p:cNvPr id="7" name="Picture 6" descr="test1_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600" y="1755648"/>
            <a:ext cx="5970494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703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07F86"/>
                </a:solidFill>
                <a:latin typeface="Aptos"/>
              </a:defRPr>
            </a:pPr>
            <a:r>
              <a:t>BETAS: trained | official WiLoR | official HaMeR | zero</a:t>
            </a:r>
          </a:p>
        </p:txBody>
      </p:sp>
      <p:pic>
        <p:nvPicPr>
          <p:cNvPr id="9" name="Picture 8" descr="test1_0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351" y="4069080"/>
            <a:ext cx="6166991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8677B"/>
                </a:solidFill>
                <a:latin typeface="Aptos"/>
              </a:defRPr>
            </a:pPr>
            <a:r>
              <a:t>Baseline reconstruction check: &lt;9e-8 m in 3D; pose experiment reprojection error &lt;0.000203 px.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Full annotated intervention: absolute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All 10,240 deterministic local validation samples; the 512-sample pilot conclusion holds.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Sources: evaluation/freihand_annotated_interventions_full/{summary.csv,provenance.json}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533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Variant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Reproj px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MPJPE mm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PA-MPJPE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PVE mm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Extent / GT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Self-trained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5.403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9.582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6.006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9.026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98.34%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 WiLoR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2.678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4.192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3.349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4.098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99.13%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Trained + GT orientation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6.330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8.560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6.006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7.407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98.07%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Trained + GT fingers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5.211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8.448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3.018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7.914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97.06%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Trained + GT full pose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4.687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4.420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3.018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3.057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96.75%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257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Self-trained extent is 98.34% of GT: no strong systematic in-domain shrinkage.</a:t>
            </a:r>
          </a:p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Official WiLoR is still substantially more accurate across all four error 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Full annotated intervention: paired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Interventions are diagnostic counterfactuals; lower errors are better.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Sources: evaluation/freihand_annotated_interventions_full/{paired_summary.csv,report.md}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6373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Paired comparison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Improved samples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Median relative change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 vs trained: reprojection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10173/10,240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-48.23%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 camera on trained geometry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4204/10,240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+5.65%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GT orientation: MPJPE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6640/10,240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-6.63%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GT fingers: PA-MPJPE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10145/10,240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-46.75%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GT full pose: MPJPE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10190/10,240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-52.57%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46373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GT full pose: PVE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10214/10,240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-68.65%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303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Camera swap worsens reprojection by 5.65% median: geometry and camera are co-adapted.</a:t>
            </a:r>
          </a:p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GT fingers cut PA-MPJPE by 46.75%; complete GT pose cuts MPJPE 52.57% and PVE 68.65%.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Loss audit: explicit pose supervision is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64 fixed samples, 8 local batches of 8; FP32 diagnostic gradients, no optimizer update.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Sources: evaluation/freihand_loss_gradient_audit/{summary.csv,report.md,provenance.json}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46373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Loss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Weight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Loss share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All grad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Pose head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Shape head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head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2D keypoints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0.01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25.67%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9.7168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0.2747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0.0334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9.2479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3D keypoints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0.05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58.77%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2.1886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0.4636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0.0402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0.0000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Global orientation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0.001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0.16%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0.0164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0.0038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Finger pose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0.001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7.96%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0.2433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0.0592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0.0000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0.0000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Betas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0.0005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6.64%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0.2306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0.0230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0.0000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46373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Adversarial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0.0005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0.80%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0.0164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0.0072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0.0000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0.0000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257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07F86"/>
                </a:solidFill>
                <a:latin typeface="Aptos"/>
              </a:defRPr>
            </a:pPr>
            <a:r>
              <a:t>2D + 3D keypoints supply 84.44% of the weighted objective. Global-orientation supervision is only 0.16%.</a:t>
            </a:r>
          </a:p>
          <a:p>
            <a:pPr>
              <a:spcAft>
                <a:spcPts val="1200"/>
              </a:spcAft>
              <a:defRPr sz="1800" b="0">
                <a:solidFill>
                  <a:srgbClr val="007F86"/>
                </a:solidFill>
                <a:latin typeface="Aptos"/>
              </a:defRPr>
            </a:pPr>
            <a:r>
              <a:t>Betas are active (6.64%; grad 0.231), so increasing beta weight is not the evidence-based first repair.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Recommendation: add data before changing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Keep the first multi-dataset experiment interpretable by changing one factor at a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Sources: full annotated intervention and loss-gradient audit; proposed experiment, not yet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Implication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FreiHAND median extent / GT = 98.34%.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No strong systematic in-domain scale bias.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The larger size discrepancy appears on demo images.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Domain coverage is the stronger first hypothesis.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All configured losses are active; betas contribute 6.64%.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No failed or clearly absent loss requires an immediate weight fix.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Official WiLoR used broader training data.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Add WHIM alongside FreiHAND before tuning the objective.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52628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07F86"/>
                </a:solidFill>
                <a:latin typeface="Aptos"/>
              </a:defRPr>
            </a:pPr>
            <a:r>
              <a:t>Protocol: same ViTPose initialization, architecture, optimizer and current loss weights; change only the data mixture.</a:t>
            </a:r>
          </a:p>
          <a:p>
            <a:pPr>
              <a:spcAft>
                <a:spcPts val="1200"/>
              </a:spcAft>
              <a:defRPr sz="1800" b="0">
                <a:solidFill>
                  <a:srgbClr val="007F86"/>
                </a:solidFill>
                <a:latin typeface="Aptos"/>
              </a:defRPr>
            </a:pPr>
            <a:r>
              <a:t>Start with a 1,000-step FreiHAND + WHIM smoke run, verify sampling and validation, then scale up only if metrics and fixed-demo outputs improve.</a:t>
            </a:r>
          </a:p>
          <a:p>
            <a:pPr>
              <a:spcAft>
                <a:spcPts val="1200"/>
              </a:spcAft>
              <a:defRPr sz="1800" b="0">
                <a:solidFill>
                  <a:srgbClr val="007F86"/>
                </a:solidFill>
                <a:latin typeface="Aptos"/>
              </a:defRPr>
            </a:pPr>
            <a:r>
              <a:t>Judge MPJPE, PA-MPJPE, PVE and reprojection together—not projected extent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7243A"/>
                </a:solidFill>
                <a:latin typeface="Aptos"/>
              </a:defRPr>
            </a:pPr>
            <a:r>
              <a:t>Conclusions and the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8677B"/>
                </a:solidFill>
                <a:latin typeface="Aptos"/>
              </a:defRPr>
            </a:pPr>
            <a:r>
              <a:t>Current evidence supports a controlled multi-dataset experiment before loss tuning.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8677B"/>
                </a:solidFill>
                <a:latin typeface="Aptos"/>
              </a:defRPr>
            </a:pPr>
            <a:r>
              <a:t>Sources: full annotated intervention, loss-gradient audit and all local scale_diagnostic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8677B"/>
                </a:solidFill>
                <a:latin typeface="Aptos"/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55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7607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Supported by current experiments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Still unresolved</a:t>
                      </a:r>
                    </a:p>
                  </a:txBody>
                  <a:tcPr marL="109728" marT="109728">
                    <a:solidFill>
                      <a:srgbClr val="17243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Refinement usually compensates for smaller demo projections.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Why the demo domain shows a larger size discrepancy.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No strong systematic FreiHAND scale shrinkage (98.34% median extent / GT).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Whether more varied training data fixes out-of-domain scale behavior.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Pose—especially fingers—is the main annotated accuracy gap.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The best FreiHAND/WHIM sampling ratio and coverage.</a:t>
                      </a:r>
                    </a:p>
                  </a:txBody>
                  <a:tcPr marL="109728" marT="109728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Camera and geometry are co-adapted; isolated swapping is misleading.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43A"/>
                          </a:solidFill>
                          <a:latin typeface="Aptos"/>
                        </a:defRPr>
                      </a:pPr>
                      <a:r>
                        <a:t>Per-sample failures, false detections and domain shift.</a:t>
                      </a:r>
                    </a:p>
                  </a:txBody>
                  <a:tcPr marL="109728" marT="109728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80060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Next: add WHIM and run a 1,000-step FreiHAND + WHIM smoke test with the current loss weights unchanged.</a:t>
            </a:r>
          </a:p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Use the same ViTPose initialization, architecture and optimizer so the data effect remains identifiable.</a:t>
            </a:r>
          </a:p>
          <a:p>
            <a:pPr>
              <a:spcAft>
                <a:spcPts val="1200"/>
              </a:spcAft>
              <a:defRPr sz="1900" b="0">
                <a:solidFill>
                  <a:srgbClr val="007F86"/>
                </a:solidFill>
                <a:latin typeface="Aptos"/>
              </a:defRPr>
            </a:pPr>
            <a:r>
              <a:t>Select by full validation MPJPE, PA-MPJPE, PVE and reprojection—not projected extent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